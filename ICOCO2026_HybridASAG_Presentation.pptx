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6"/>
    <p:sldId id="263" r:id="rId5"/>
    <p:sldId id="264" r:id="rId4"/>
    <p:sldId id="265" r:id="rId3"/>
    <p:sldId id="266" r:id="rId2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75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00F20-0B1A-4D37-9008-77F386FB1B0F}" type="datetimeFigureOut">
              <a:rPr lang="en-MY" smtClean="0"/>
              <a:t>4/10/2026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ADE24-9E59-45E1-AABE-F90C9633F2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778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0:00 - 1:00]</a:t>
            </a:r>
          </a:p>
          <a:p>
            <a:r>
              <a:t>Good morning, session chairs and fellow researchers. Today I present our paper: 'Deconstructing ASAG: Combining Deterministic NLP Tags with LLM Synthesis for Interpretable Grading'.</a:t>
            </a:r>
          </a:p>
          <a:p>
            <a:r>
              <a:t>Short answer grading is critical for STEM and computing education. But today's AI graders face a major dilemma: traditional deep models are opaque black boxes, while modern LLMs hallucinate grades and reward verbosity.</a:t>
            </a:r>
          </a:p>
          <a:p>
            <a:r>
              <a:t>In this work, we propose HybridASAG: deconstructing the grading process into 5 deterministic NLP tags, coupled with LLM synthesis strictly for pedagogical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1:00 - 2:00]</a:t>
            </a:r>
          </a:p>
          <a:p>
            <a:r>
              <a:t>To motivate our work: ASAG systems are expanding across universities worldwide. However, as highlighted in Section I of our paper, existing systems prioritize a single numeric score over explainability.</a:t>
            </a:r>
          </a:p>
          <a:p>
            <a:r>
              <a:t>Students are left asking: 'Why did I get this grade?' Was it bad grammar? A missing key concept? Or invalid reasoning?</a:t>
            </a:r>
          </a:p>
          <a:p>
            <a:r>
              <a:t>Without criterion-level evidence, AI assessment cannot be trusted in formative or summative education.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2:00 - 3:15]</a:t>
            </a:r>
          </a:p>
          <a:p>
            <a:r>
              <a:t>In Section I &amp; II, we formalize the fundamental limitation of existing paradigms.</a:t>
            </a:r>
          </a:p>
          <a:p>
            <a:r>
              <a:t>As shown in Figure 1 taken from our paper: conventional models collapse student text into a latent representation. It's completely opaque.</a:t>
            </a:r>
          </a:p>
          <a:p>
            <a:r>
              <a:t>On the other hand, purely prompted LLMs swing to the opposite extreme: they produce fluent text, but they hallucinate! They are easily fooled by superficial fluency—giving high scores to answers that sound good but are factually wrong.</a:t>
            </a:r>
          </a:p>
          <a:p>
            <a:r>
              <a:t>This motivates our HybridASAG framework: we must separate deterministic scoring from linguistic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3:15 - 4:30]</a:t>
            </a:r>
          </a:p>
          <a:p>
            <a:r>
              <a:t>Here is the core technical architecture of HybridASAG, presented in Figure 3 of our paper.</a:t>
            </a:r>
          </a:p>
          <a:p>
            <a:r>
              <a:t>Notice the three distinct phases:</a:t>
            </a:r>
          </a:p>
          <a:p>
            <a:r>
              <a:t>In Phase 1, we extract a 5-dimensional feature vector using specialized expert models.</a:t>
            </a:r>
          </a:p>
          <a:p>
            <a:r>
              <a:t>In Phase 2, the final grade is calculated using a transparent weighted aggregation formula. The model cannot invent or hallucinate the score.</a:t>
            </a:r>
          </a:p>
          <a:p>
            <a:r>
              <a:t>In Phase 3, Qwen2.5-3B acts purely as a synthesizer: it reads the 5 tags and writes pedagogical teacher feedback. This completely eliminates grade hallucinations.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4:30 - 5:30]</a:t>
            </a:r>
          </a:p>
          <a:p>
            <a:r>
              <a:t>Section III-B details each linguistic indicator:</a:t>
            </a:r>
          </a:p>
          <a:p>
            <a:r>
              <a:t>1. Semantic Similarity uses SimCSE to map sentence embeddings, scoring paraphrases fairly.</a:t>
            </a:r>
          </a:p>
          <a:p>
            <a:r>
              <a:t>2. Keyword Coverage uses KeyBERT with an empirical threshold of 0.5 to check essential concepts.</a:t>
            </a:r>
          </a:p>
          <a:p>
            <a:r>
              <a:t>3. Grammar uses RoBERTa trained on CoLA for linguistic acceptability.</a:t>
            </a:r>
          </a:p>
          <a:p>
            <a:r>
              <a:t>4. Formality detects informal registers.</a:t>
            </a:r>
          </a:p>
          <a:p>
            <a:r>
              <a:t>5. Most importantly, Logical Consistency uses DeBERTa-v3 NLI cross-encoder to compute P(entailment) and P(contradiction). Together, these 5 tags total under 3GB of memory and execute in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5:30 - 6:30]</a:t>
            </a:r>
          </a:p>
          <a:p>
            <a:r>
              <a:t>Section III-C describes our aggregation mechanism.</a:t>
            </a:r>
          </a:p>
          <a:p>
            <a:r>
              <a:t>Our weight vector was derived empirically on training data: Logic is assigned 40%, Coverage 30%, Semantic 15%, Grammar 10%, and Formality 5%.</a:t>
            </a:r>
          </a:p>
          <a:p>
            <a:r>
              <a:t>Look at the red rule: our NLI Contradiction Hard-Cap. If the contradiction probability exceeds 0.90, the grade is capped at 4.0 out of 10. This prevents a critical failure mode where a student writes a beautiful, grammatically flawless paragraph that says the exact opposite of the truth!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6:30 - 7:30]</a:t>
            </a:r>
          </a:p>
          <a:p>
            <a:r>
              <a:t>In Section IV, we benchmark across two premier ASAG datasets:</a:t>
            </a:r>
          </a:p>
          <a:p>
            <a:r>
              <a:t>SemEval-2013 Task 7 (covering electricity and broader science) and the Mohler dataset (computer science data structures).</a:t>
            </a:r>
          </a:p>
          <a:p>
            <a:r>
              <a:t>We evaluate not only classical grading agreement (QWK, Accuracy, Macro F1), but also output reliability: JSON compliance rate and Hallucination rate in generated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7:30 - 8:45]</a:t>
            </a:r>
          </a:p>
          <a:p>
            <a:r>
              <a:t>Here are the quantitative results from Table II-A and II-B in our paper.</a:t>
            </a:r>
          </a:p>
          <a:p>
            <a:r>
              <a:t>Comparing HybridASAG to direct LLM prompting:</a:t>
            </a:r>
          </a:p>
          <a:p>
            <a:r>
              <a:t>Qwen2.5-3B prompted directly achieves 72.4% QWK with a 10.7% hallucination rate.</a:t>
            </a:r>
          </a:p>
          <a:p>
            <a:r>
              <a:t>HybridASAG achieves 85.5% QWK—a 13.1% jump—while cutting hallucinations by nearly 90%, down to 1.24%.</a:t>
            </a:r>
          </a:p>
          <a:p>
            <a:r>
              <a:t>JSON compliance also hits 99.12%, ensuring seamless integration into learning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8:45 - 9:45]</a:t>
            </a:r>
          </a:p>
          <a:p>
            <a:r>
              <a:t>Table III highlights our model's cross-domain robustness.</a:t>
            </a:r>
          </a:p>
          <a:p>
            <a:r>
              <a:t>Notice that on Beetle Unseen Questions—where the system is evaluated on prompts it has never encountered during training—it retains 84.7% QWK.</a:t>
            </a:r>
          </a:p>
          <a:p>
            <a:r>
              <a:t>And on the Mohler Computer Science dataset across 2,442 samples, 5-fold cross-validation achieves 84.5% QWK. This confirms that our 5 deterministic linguistic tags transfer reliably across diverse STEM and CS disciplines.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9:45 - 10:45]</a:t>
            </a:r>
          </a:p>
          <a:p>
            <a:r>
              <a:t>Section IV-E reports our ablation study, answering: Which component is most essential?</a:t>
            </a:r>
          </a:p>
          <a:p>
            <a:r>
              <a:t>Look at the impact of removing the Logic module:</a:t>
            </a:r>
          </a:p>
          <a:p>
            <a:r>
              <a:t>QWK plunges from 85.5% to 75.2%—a massive 10.3% loss.</a:t>
            </a:r>
          </a:p>
          <a:p>
            <a:r>
              <a:t>Even worse: Hallucination rate more than triples, from 1.24% to 4.15%.</a:t>
            </a:r>
          </a:p>
          <a:p>
            <a:r>
              <a:t>Why? Because when students write erroneous claims that share vocabulary with the question, only DeBERTa NLI recognizes the logical contradiction. Without logic, automated grading is blind to factual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10:45 - 12:00]</a:t>
            </a:r>
          </a:p>
          <a:p>
            <a:r>
              <a:t>Table IV from our paper provides this compelling qualitative demonstration.</a:t>
            </a:r>
          </a:p>
          <a:p>
            <a:r>
              <a:t>Look at Case 1: The student wrote that LIFO means 'the first item added is the first one removed'. That is 100% wrong!</a:t>
            </a:r>
          </a:p>
          <a:p>
            <a:r>
              <a:t>Yet what did the base LLM do? It awarded 100/100 and called it 'perfect' because it saw the keywords LIFO and FIFO!</a:t>
            </a:r>
          </a:p>
          <a:p>
            <a:r>
              <a:t>HybridASAG, by contrast, caught the contradiction via DeBERTa NLI, deducted 50 marks, and Qwen generated the exact explanation: 'LIFO means the last item added is removed first'.</a:t>
            </a:r>
          </a:p>
          <a:p>
            <a:r>
              <a:t>This proves why criterion-level deconstruction is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12:00 - 13:00]</a:t>
            </a:r>
          </a:p>
          <a:p>
            <a:r>
              <a:t>HybridASAG is not just a theoretical proposal; it is a fully functioning production system.</a:t>
            </a:r>
          </a:p>
          <a:p>
            <a:r>
              <a:t>Here is our live dashboard running on a local workstation.</a:t>
            </a:r>
          </a:p>
          <a:p>
            <a:r>
              <a:t>Teachers and students receive an overall score (e.g. 67/100), visual bars for all 5 dimensions, and a list of missing vocabulary.</a:t>
            </a:r>
          </a:p>
          <a:p>
            <a:r>
              <a:t>With 4-bit NF4 quantization, the entire framework operates on standard hardware, with a fallback engine that runs in under 5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[Timing: 13:00 - 15:00+ (Q&amp;A Session Anchor)]</a:t>
            </a:r>
          </a:p>
          <a:p>
            <a:r>
              <a:t>Key Point: Leave this slide on screen during the 2-3 minute Q&amp;A session.</a:t>
            </a:r>
          </a:p>
          <a:p>
            <a:r>
              <a:t>Anticipated Q&amp;A Defenses:</a:t>
            </a:r>
          </a:p>
          <a:p>
            <a:r>
              <a:t>1. Q: Why not fine-tune a single 7B model instead of 5 separate models?</a:t>
            </a:r>
          </a:p>
          <a:p>
            <a:r>
              <a:t>   A: A single fine-tuned model remains a black box. You cannot audit criterion weights, and you cannot enforce hard constraints like our NLI contradiction cap.</a:t>
            </a:r>
          </a:p>
          <a:p>
            <a:r>
              <a:t>2. Q: How do you handle multiple valid reference answers?</a:t>
            </a:r>
          </a:p>
          <a:p>
            <a:r>
              <a:t>   A: In Section V, we discuss our ongoing extension: taking the maximum semantic score across alternative reference formulations.</a:t>
            </a:r>
          </a:p>
          <a:p>
            <a:r>
              <a:t>3. Q: How fast is inference?</a:t>
            </a:r>
          </a:p>
          <a:p>
            <a:r>
              <a:t>   A: The 5 expert models run concurrently in ~120ms on GPU or ~450ms on CPU. Pure LLM generation takes 5-15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C828-EEA9-A2E6-5B1B-42E79F5AF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509923"/>
            <a:ext cx="91440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0A53E-D623-AEDD-ABF9-FF25097E9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8959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A4D71-148C-4E9C-E464-4585FFB0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A5881A61-E187-40B7-A6DE-E6649FBA2C2F}" type="datetime1">
              <a:rPr lang="en-MY" smtClean="0"/>
              <a:pPr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B9605-CC60-9011-3167-BE98A873A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4BB95-DABF-F472-4444-EE73FC8E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468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B2F8-AF09-4B70-D01A-0A20BEFB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AAFC2-FF9E-026F-B8C0-A743AEC1A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2DA0F-AB79-50BC-42B6-D333FD14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9EB7-AFCA-48FA-8D3F-2FF3451DCCA1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14A9D-63D6-E15C-F963-36910146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BF15A-DDCE-7E28-EB37-0F0759D5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597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383C-9EBB-73F1-ABDF-DD1C8F97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768053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67332-91E4-A9BC-5136-5ECF23B0B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576805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8336-059E-850F-AC41-B2996C19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577D-AE40-4CD8-8F30-24006792B1B1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24D48-0B4A-398F-E97E-1747A8DE7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BB8F6-8871-1AF0-A5E2-1763D3E5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575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3A38-1647-6EB4-9FBD-2F07DD17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432CB-DA29-49FE-EE4D-2607243FD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49327-07B0-92B0-26E8-009201551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62F84-7B7F-3AF7-0354-A8E902FF8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1B48-190A-4377-8FB8-14AD17F9D1F4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F0262-72DB-D898-269A-F51B804A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08CBC-EDB6-871C-F5C2-4BA0B96D7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64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EE12-7C28-E528-DE25-DC6A6ACC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92725-A37D-A229-CE43-833F7A123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AB912-F371-D45B-2841-349AB59C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059F9-7042-8E3C-2339-D0670EBFC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A2A2A6-C28E-58CC-7D58-22285274E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456DF-5518-C066-7507-A344FA91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28BE6-FAFD-41CD-B948-79FD206497EE}" type="datetime1">
              <a:rPr lang="en-MY" smtClean="0"/>
              <a:t>4/10/2026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CC194F-4517-9437-F58E-9B1500268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4F5CD-9725-A9F2-4C9A-6B599321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00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19FD-9393-1329-BDA9-EBBD6BBC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07425-57A8-9DB3-1C88-C5908803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4C5E-3409-40E6-9C27-398859297883}" type="datetime1">
              <a:rPr lang="en-MY" smtClean="0"/>
              <a:t>4/10/2026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96632-EB73-5ECE-414E-8A93B657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6CAAC-F193-DC43-150C-EE8D37BB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5789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98995-ECAC-F022-52A7-A7282608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DD15F31-6472-4209-A7F7-A31D38751590}" type="datetime1">
              <a:rPr lang="en-MY" smtClean="0"/>
              <a:t>4/10/2026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D506-5609-4701-AE91-C8CD64C2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>
              <a:solidFill>
                <a:schemeClr val="accent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9C260-0F2F-6F16-D900-0BE94831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106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C141-F0B3-D087-3E27-A5B819D9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198812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2D7A-6BB4-1985-57AA-8B1CA52D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026" y="987425"/>
            <a:ext cx="701936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1D4B6-ABAD-E8C1-4BCF-7A5EA427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198812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3B8A-4C83-D9EF-50F6-89B18A35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2BCC4-6EE3-42AD-AFF7-A92FDEBC19B8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6723B-0862-0C97-F657-FA370E37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F9AFD-1983-4325-D62B-4B435003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703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C141-F0B3-D087-3E27-A5B819D9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457200"/>
            <a:ext cx="3198812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2D7A-6BB4-1985-57AA-8B1CA52D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425"/>
            <a:ext cx="701936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1D4B6-ABAD-E8C1-4BCF-7A5EA427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3400" y="2057400"/>
            <a:ext cx="3198812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3B8A-4C83-D9EF-50F6-89B18A35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2E8F0701-25FF-400B-9896-A68A1813DA3F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6723B-0862-0C97-F657-FA370E37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F9AFD-1983-4325-D62B-4B435003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6577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1531F-F3AC-D412-10C8-F477E90413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838200" y="987425"/>
            <a:ext cx="701936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4B679-19B5-65CF-0CF1-0E5FBD5A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457200"/>
            <a:ext cx="3195636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9A2A3-3D9E-1FC9-0C04-3BDD7AFFC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3400" y="2057400"/>
            <a:ext cx="3195636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BA71B-14FE-9B23-6085-821F143D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13017E7D-129D-426F-997F-17D89B3BE2A8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4CFFF-4925-3BA5-E4C5-78643830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C0E30-4C99-A255-D241-A07A62AD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7750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1531F-F3AC-D412-10C8-F477E90413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336026" y="987425"/>
            <a:ext cx="701936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4B679-19B5-65CF-0CF1-0E5FBD5A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195636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9A2A3-3D9E-1FC9-0C04-3BDD7AFFC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195636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BA71B-14FE-9B23-6085-821F143D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611B-1FB4-4C80-8B05-0DE57E69CD40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4CFFF-4925-3BA5-E4C5-78643830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C0E30-4C99-A255-D241-A07A62AD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3560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B0A2-A78F-034E-C5F2-CCA59072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77FA9-C50C-D302-B84F-1E87B19AA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7E02B-5762-9C76-7FFD-7B74B2CC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C4474-560F-4175-A3E0-D58B0449ED04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739B2-AB9F-3C68-1C1B-E39B2EADC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819B8-ECB0-D032-1092-EB022A4E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9705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6F891-4A6A-5553-3C81-EA7C48B15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132141" y="365125"/>
            <a:ext cx="1841091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61C4C-DC70-E46C-7A2C-F379F146E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966019"/>
            <a:ext cx="9116961" cy="52109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6C9DF-D503-895A-798F-0CA27B9C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4483B6BC-DF73-418D-BB74-75315B950211}" type="datetime1">
              <a:rPr lang="en-MY" smtClean="0"/>
              <a:pPr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66F2A-975D-FE10-9E91-6F4E660B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>
              <a:solidFill>
                <a:schemeClr val="accent5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B409A-C23F-3B71-6425-A0384B7F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433920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8284C-557E-7B80-4922-87007A68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86D92-17CE-769F-72AE-FA9891DB1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70224-8D4B-9362-8033-C8A36D414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227EB5BB-382A-4932-8704-E72DF42830F5}" type="datetime1">
              <a:rPr lang="en-MY" smtClean="0"/>
              <a:pPr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85C3D-832A-FD12-9466-2BAFE7818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endParaRPr lang="en-MY">
              <a:solidFill>
                <a:schemeClr val="tx1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AB9C-8FC3-22CF-BD1E-F91DCAF21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2114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1" r:id="rId10"/>
    <p:sldLayoutId id="2147483657" r:id="rId11"/>
    <p:sldLayoutId id="2147483658" r:id="rId12"/>
    <p:sldLayoutId id="2147483659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700" b="1">
                <a:solidFill>
                  <a:srgbClr val="FFFFFF"/>
                </a:solidFill>
                <a:latin typeface="Segoe UI"/>
              </a:defRPr>
            </a:pPr>
            <a:r>
              <a:t>Deconstructing ASAG: Combining Deterministic NLP Tags</a:t>
            </a:r>
          </a:p>
          <a:p>
            <a:pPr>
              <a:defRPr sz="2700" b="1">
                <a:solidFill>
                  <a:srgbClr val="FFFFFF"/>
                </a:solidFill>
                <a:latin typeface="Segoe UI"/>
              </a:defRPr>
            </a:pPr>
            <a:r>
              <a:t>with LLM Synthesis for Interpretable Grading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DCEBFC"/>
                </a:solidFill>
                <a:latin typeface="Segoe UI"/>
              </a:defRPr>
            </a:pPr>
            <a:r>
              <a:t>2026 IEEE International Conference on Computing (ICOCO)</a:t>
            </a:r>
          </a:p>
          <a:p>
            <a:pPr>
              <a:defRPr sz="1400">
                <a:solidFill>
                  <a:srgbClr val="DCEBFC"/>
                </a:solidFill>
                <a:latin typeface="Segoe UI"/>
              </a:defRPr>
            </a:pPr>
          </a:p>
          <a:p>
            <a:pPr>
              <a:defRPr sz="1400">
                <a:solidFill>
                  <a:srgbClr val="DCEBFC"/>
                </a:solidFill>
                <a:latin typeface="Segoe UI"/>
              </a:defRPr>
            </a:pPr>
            <a:r>
              <a:t>Authors: Do Thanh Hai¹ · Research Team²</a:t>
            </a:r>
          </a:p>
          <a:p>
            <a:pPr>
              <a:defRPr sz="1400">
                <a:solidFill>
                  <a:srgbClr val="DCEBFC"/>
                </a:solidFill>
                <a:latin typeface="Segoe UI"/>
              </a:defRPr>
            </a:pPr>
            <a:r>
              <a:t>¹Department of Computer Science &amp; Engineering</a:t>
            </a:r>
          </a:p>
          <a:p>
            <a:pPr>
              <a:defRPr sz="1400">
                <a:solidFill>
                  <a:srgbClr val="DCEBFC"/>
                </a:solidFill>
                <a:latin typeface="Segoe UI"/>
              </a:defRPr>
            </a:pPr>
            <a:r>
              <a:t>Keywords: ASAG · Deterministic Linguistic Indicators · LLMs · Interpretable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Automated Grading Demands Criterion-Level Evidence, Not Just Holistic Predictions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3291840" cy="429768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1B5DAA"/>
                </a:solidFill>
              </a:defRPr>
            </a:pPr>
            <a:r>
              <a:t>1. Scalability in STEM &amp; CS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Short-answer questions assess deep conceptual synthesis and problem solving far better than multiple choice.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Massive course enrollments (e.g., Computer Science Data Structures, basic Physics) overwhelm human instructor grading capacity.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Human evaluation suffers from intra-rater inconsistency, fatigue, and turnaround delays.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3128" y="1737360"/>
            <a:ext cx="3291840" cy="429768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1B5DAA"/>
                </a:solidFill>
              </a:defRPr>
            </a:pPr>
            <a:r>
              <a:t>2. The 'Criterion Evidence' Gap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Current ASAG models primarily optimize holistic accuracy (e.g., predicting an aggregate score 7.5/10).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They fail to provide criterion-level evidence: Was the penalty due to missing keywords, flawed logic, or grammatical phrasing?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Lack of granular evidence prevents formative learning and hinders institutional adoption.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5008" y="1737360"/>
            <a:ext cx="3291840" cy="429768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700">
                <a:solidFill>
                  <a:srgbClr val="1B5DAA"/>
                </a:solidFill>
              </a:defRPr>
            </a:pPr>
            <a:r>
              <a:t>3. Trust &amp; Auditability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High-stakes exam grading requires auditable decisions that students and instructors can dispute and inspect.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Post-hoc explanations (e.g., SHAP, attention heatmaps) do not map directly to pedagogical grading rubrics.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Deterministic scoring guarantees that identical submissions receive identical grades under repeat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Conventional End-to-End Models and Prompted LLMs Fail the Interpretability Test</a:t>
            </a:r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44" y="1536192"/>
            <a:ext cx="8961120" cy="18506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1248" y="3584448"/>
            <a:ext cx="5120640" cy="2670048"/>
          </a:xfrm>
          <a:prstGeom prst="roundRect">
            <a:avLst/>
          </a:prstGeom>
          <a:solidFill>
            <a:srgbClr val="FEF6F6"/>
          </a:solidFill>
          <a:ln w="15240">
            <a:solidFill>
              <a:srgbClr val="B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B42828"/>
                </a:solidFill>
                <a:latin typeface="Segoe UI"/>
              </a:defRPr>
            </a:pPr>
            <a:r>
              <a:t>Conventional Deep Learning (Fig. 1)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B42828"/>
                </a:solidFill>
                <a:latin typeface="Segoe UI"/>
              </a:rPr>
              <a:t>• Latent Space Compression: </a:t>
            </a:r>
            <a:r>
              <a:rPr b="0" sz="1100">
                <a:solidFill>
                  <a:srgbClr val="1E293B"/>
                </a:solidFill>
                <a:latin typeface="Segoe UI"/>
              </a:rPr>
              <a:t>Encodes Reference and Student answers into hidden vectors before predicting a scalar score.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B42828"/>
                </a:solidFill>
                <a:latin typeface="Segoe UI"/>
              </a:rPr>
              <a:t>• Opaque Black Box: </a:t>
            </a:r>
            <a:r>
              <a:rPr b="0" sz="1100">
                <a:solidFill>
                  <a:srgbClr val="1E293B"/>
                </a:solidFill>
                <a:latin typeface="Segoe UI"/>
              </a:rPr>
              <a:t>No explicit intermediate linguistic variables; impossible to verify which rubric criterion was violated.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B42828"/>
                </a:solidFill>
                <a:latin typeface="Segoe UI"/>
              </a:rPr>
              <a:t>• No Formative Feedback: </a:t>
            </a:r>
            <a:r>
              <a:rPr b="0" sz="1100">
                <a:solidFill>
                  <a:srgbClr val="1E293B"/>
                </a:solidFill>
                <a:latin typeface="Segoe UI"/>
              </a:rPr>
              <a:t>Cannot generate actionable suggestions for formative student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584448"/>
            <a:ext cx="5120640" cy="2670048"/>
          </a:xfrm>
          <a:prstGeom prst="roundRect">
            <a:avLst/>
          </a:prstGeom>
          <a:solidFill>
            <a:srgbClr val="FFFAF2"/>
          </a:solidFill>
          <a:ln w="15240">
            <a:solidFill>
              <a:srgbClr val="F3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39200"/>
                </a:solidFill>
                <a:latin typeface="Segoe UI"/>
              </a:defRPr>
            </a:pPr>
            <a:r>
              <a:t>Prompted Generative LLMs (e.g., GPT-4)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F39200"/>
                </a:solidFill>
                <a:latin typeface="Segoe UI"/>
              </a:rPr>
              <a:t>• Length &amp; Eloquence Bias: </a:t>
            </a:r>
            <a:r>
              <a:rPr b="0" sz="1100">
                <a:solidFill>
                  <a:srgbClr val="1E293B"/>
                </a:solidFill>
                <a:latin typeface="Segoe UI"/>
              </a:rPr>
              <a:t>Consistently assigns high marks (90-100%) to verbose, fluent answers containing factual errors!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F39200"/>
                </a:solidFill>
                <a:latin typeface="Segoe UI"/>
              </a:rPr>
              <a:t>• Stochastic Score Drift: </a:t>
            </a:r>
            <a:r>
              <a:rPr b="0" sz="1100">
                <a:solidFill>
                  <a:srgbClr val="1E293B"/>
                </a:solidFill>
                <a:latin typeface="Segoe UI"/>
              </a:rPr>
              <a:t>Non-zero temperature or minor prompt formatting causes identical student answers to get different grades.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F39200"/>
                </a:solidFill>
                <a:latin typeface="Segoe UI"/>
              </a:rPr>
              <a:t>• Post-Hoc Hallucinations: </a:t>
            </a:r>
            <a:r>
              <a:rPr b="0" sz="1100">
                <a:solidFill>
                  <a:srgbClr val="1E293B"/>
                </a:solidFill>
                <a:latin typeface="Segoe UI"/>
              </a:rPr>
              <a:t>10-20% hallucination rate in justifications, referencing phantom rubric points or invented statements.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HybridASAG: Deconstructing Grading into 3 Transparent, Decoupled Phases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444752"/>
            <a:ext cx="10515600" cy="384048"/>
          </a:xfrm>
          <a:prstGeom prst="roundRect">
            <a:avLst/>
          </a:prstGeom>
          <a:solidFill>
            <a:srgbClr val="F0F6FE"/>
          </a:solidFill>
          <a:ln w="15240">
            <a:solidFill>
              <a:srgbClr val="1B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B5DAA"/>
                </a:solidFill>
                <a:latin typeface="Segoe UI"/>
              </a:defRPr>
            </a:pPr>
            <a:r>
              <a:t>Figure 3 from Paper: Decoupled Workflow Separating Deterministic Scoring (Phases 1 &amp; 2) from LLM Synthesis (Phase 3)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1901952"/>
            <a:ext cx="9326880" cy="46779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Phase 1: Five Deterministic NLP Indicators Grounded in Linguistic Theory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73736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1097280"/>
                <a:gridCol w="301752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Linguistic Tag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Specialized Model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Formulation &amp; Mapping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 Competence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5DAA"/>
                          </a:solidFill>
                          <a:latin typeface="Segoe UI"/>
                        </a:defRPr>
                      </a:pPr>
                      <a:r>
                        <a:t>1. Semantic Similarity (s_sem)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princeton-nlp/sup-simcse-roberta-large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~1.3 GB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s_sem = (cos(e_R, e_S) + 1) / 2</a:t>
                      </a:r>
                    </a:p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Dense sentence contrastive embedding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Paraphrastic meaning preservation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5DAA"/>
                          </a:solidFill>
                          <a:latin typeface="Segoe UI"/>
                        </a:defRPr>
                      </a:pPr>
                      <a:r>
                        <a:t>2. Keyword Coverage (s_cov)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all-MiniLM-L6-v2 (KeyBERT backend)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~80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s_cov = |{k in K | cos(e_k, e_S) &gt;= 0.5}| / N</a:t>
                      </a:r>
                    </a:p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Threshold theta_k = 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Core domain terminology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5DAA"/>
                          </a:solidFill>
                          <a:latin typeface="Segoe UI"/>
                        </a:defRPr>
                      </a:pPr>
                      <a:r>
                        <a:t>3. Grammatical Quality (s_gra)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textattack/roberta-base-CoLA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~500 MB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s_gra = P_acceptable(S)</a:t>
                      </a:r>
                    </a:p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Corpus of Linguistic Acceptability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Syntactic acceptability &amp; fluency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5DAA"/>
                          </a:solidFill>
                          <a:latin typeface="Segoe UI"/>
                        </a:defRPr>
                      </a:pPr>
                      <a:r>
                        <a:t>4. Writing Formality (s_for)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cointegrated/roberta-base-formality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~500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s_for = P_formal(S)</a:t>
                      </a:r>
                    </a:p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GYAFC formality corpus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Scholarly tone vs. colloquial slang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5DAA"/>
                          </a:solidFill>
                          <a:latin typeface="Segoe UI"/>
                        </a:defRPr>
                      </a:pPr>
                      <a:r>
                        <a:t>5. Logical Consistency (s_log)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cross-encoder/nli-deberta-v3-base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~700 MB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s_log = (P_entail - P_contra + 1) / 2</a:t>
                      </a:r>
                    </a:p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Premise R -&gt; Hypothesis 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Entailment vs contradiction detection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Phase 2: Transparent Score Aggregation with NLI Contradiction Hard-Cap</a:t>
            </a:r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91640"/>
            <a:ext cx="5303520" cy="289881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41248" y="4681728"/>
            <a:ext cx="5303520" cy="1536192"/>
          </a:xfrm>
          <a:prstGeom prst="roundRect">
            <a:avLst/>
          </a:prstGeom>
          <a:solidFill>
            <a:srgbClr val="F0F6FE"/>
          </a:solidFill>
          <a:ln w="15240">
            <a:solidFill>
              <a:srgbClr val="1B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B5DAA"/>
                </a:solidFill>
                <a:latin typeface="Segoe UI"/>
              </a:defRPr>
            </a:pPr>
            <a:r>
              <a:t>Score Aggregation Formula (Section III-C)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4213D"/>
                </a:solidFill>
                <a:latin typeface="Segoe UI"/>
              </a:rPr>
              <a:t>• Feature Vector: </a:t>
            </a:r>
            <a:r>
              <a:rPr b="0" sz="1050">
                <a:solidFill>
                  <a:srgbClr val="1E293B"/>
                </a:solidFill>
                <a:latin typeface="Segoe UI"/>
              </a:rPr>
              <a:t>[s_sem, s_cov, s_for, s_gra, s_log] ∈ [0, 1]^5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4213D"/>
                </a:solidFill>
                <a:latin typeface="Segoe UI"/>
              </a:rPr>
              <a:t>• Aggregate Score: </a:t>
            </a:r>
            <a:r>
              <a:rPr b="0" sz="1050">
                <a:solidFill>
                  <a:srgbClr val="1E293B"/>
                </a:solidFill>
                <a:latin typeface="Segoe UI"/>
              </a:rPr>
              <a:t>Final Score = 10 · ∑(w_i · s_i) ∈ [0, 10]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4213D"/>
                </a:solidFill>
                <a:latin typeface="Segoe UI"/>
              </a:rPr>
              <a:t>• Deterministic: </a:t>
            </a:r>
            <a:r>
              <a:rPr b="0" sz="1050">
                <a:solidFill>
                  <a:srgbClr val="1E293B"/>
                </a:solidFill>
                <a:latin typeface="Segoe UI"/>
              </a:rPr>
              <a:t>Zero temperature drift; identical answers receive identical grades.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91640"/>
            <a:ext cx="4937760" cy="452628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4213D"/>
                </a:solidFill>
                <a:latin typeface="Segoe UI"/>
              </a:defRPr>
            </a:pPr>
            <a:r>
              <a:t>Mathematical Formulation (Eq. 16-18)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B5DAA"/>
                </a:solidFill>
                <a:latin typeface="Segoe UI"/>
              </a:rPr>
              <a:t>✔ Linear Weighted Formulation: </a:t>
            </a:r>
            <a:r>
              <a:rPr b="0" sz="1050">
                <a:solidFill>
                  <a:srgbClr val="1E293B"/>
                </a:solidFill>
                <a:latin typeface="Segoe UI"/>
              </a:rPr>
              <a:t>y = 10 · ∑(w_i · s_i) with simplex constraint: ∑ w_i = 1, w_i ≥ 0.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B5DAA"/>
                </a:solidFill>
                <a:latin typeface="Segoe UI"/>
              </a:rPr>
              <a:t>✔ Supervised Optimal Weights (w*): </a:t>
            </a:r>
            <a:r>
              <a:rPr b="0" sz="1050">
                <a:solidFill>
                  <a:srgbClr val="1E293B"/>
                </a:solidFill>
                <a:latin typeface="Segoe UI"/>
              </a:rPr>
              <a:t>w = [w_sem: 0.15, w_cov: 0.30, w_gra: 0.10, w_for: 0.05, w_log: 0.40] fitted via linear regressors on training splits.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B5DAA"/>
                </a:solidFill>
                <a:latin typeface="Segoe UI"/>
              </a:rPr>
              <a:t>✔ Key Finding: Logic &amp; Coverage Dominate: </a:t>
            </a:r>
            <a:r>
              <a:rPr b="0" sz="1050">
                <a:solidFill>
                  <a:srgbClr val="1E293B"/>
                </a:solidFill>
                <a:latin typeface="Segoe UI"/>
              </a:rPr>
              <a:t>Logical consistency (40%) and Keyword recall (30%) account for 70% of total score variance.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B42828"/>
                </a:solidFill>
                <a:latin typeface="Segoe UI"/>
              </a:rPr>
              <a:t>✔ Strict NLI Hard-Cap Constraint: </a:t>
            </a:r>
            <a:r>
              <a:rPr b="0" sz="1050">
                <a:solidFill>
                  <a:srgbClr val="1E293B"/>
                </a:solidFill>
                <a:latin typeface="Segoe UI"/>
              </a:rPr>
              <a:t>If P_contra(R, S) &gt; 0.90, final grade is HARD-CAPPED at 4.0 / 10 (40/100) regardless of high semantic or grammar scores!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1B5DAA"/>
                </a:solidFill>
                <a:latin typeface="Segoe UI"/>
              </a:rPr>
              <a:t>✔ Guaranteed Determinism: </a:t>
            </a:r>
            <a:r>
              <a:rPr b="0" sz="1050">
                <a:solidFill>
                  <a:srgbClr val="1E293B"/>
                </a:solidFill>
                <a:latin typeface="Segoe UI"/>
              </a:rPr>
              <a:t>Same student input always yields the exact same numeric grade—100% auditable.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Experimental Setup: Multi-Domain Benchmarks and Dual Quality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5120640" cy="448056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5DAA"/>
                </a:solidFill>
                <a:latin typeface="Segoe UI"/>
              </a:defRPr>
            </a:pPr>
            <a:r>
              <a:t>Benchmark Datasets (Section IV-A)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• SemEval-2013 Task 7: </a:t>
            </a:r>
            <a:r>
              <a:rPr b="0" sz="1100">
                <a:solidFill>
                  <a:srgbClr val="1E293B"/>
                </a:solidFill>
                <a:latin typeface="Segoe UI"/>
              </a:rPr>
              <a:t>Golden ASAG benchmark comprising two distinct scientific domains: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• Beetle Domain: </a:t>
            </a:r>
            <a:r>
              <a:rPr b="0" sz="1100">
                <a:solidFill>
                  <a:srgbClr val="1E293B"/>
                </a:solidFill>
                <a:latin typeface="Segoe UI"/>
              </a:rPr>
              <a:t>~4,000 student answers in basic electricity and electronics (Unseen Answers &amp; Questions splits).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• SciEntsBank Domain: </a:t>
            </a:r>
            <a:r>
              <a:rPr b="0" sz="1100">
                <a:solidFill>
                  <a:srgbClr val="1E293B"/>
                </a:solidFill>
                <a:latin typeface="Segoe UI"/>
              </a:rPr>
              <a:t>&gt;10,000 student answers across physics, biology, and chemistry (broad scientific evaluation).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• Mohler CS Benchmark: </a:t>
            </a:r>
            <a:r>
              <a:rPr b="0" sz="1100">
                <a:solidFill>
                  <a:srgbClr val="1E293B"/>
                </a:solidFill>
                <a:latin typeface="Segoe UI"/>
              </a:rPr>
              <a:t>2,442 student answers across 87 questions from college Data Structures &amp; Algorithms (normalized to [0, 10]).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• Rigorous Test Splits: </a:t>
            </a:r>
            <a:r>
              <a:rPr b="0" sz="1100">
                <a:solidFill>
                  <a:srgbClr val="1E293B"/>
                </a:solidFill>
                <a:latin typeface="Segoe UI"/>
              </a:rPr>
              <a:t>Evaluated on Beetle Unseen Answers (UA), Beetle Unseen Questions (UQ), SciEntsBank Test, and Mohler 5-Fold Cross-Validation.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91640"/>
            <a:ext cx="5120640" cy="448056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5DAA"/>
                </a:solidFill>
                <a:latin typeface="Segoe UI"/>
              </a:defRPr>
            </a:pPr>
            <a:r>
              <a:t>Evaluation Criteria (Section IV-B)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✔ Quadratic Weighted Kappa (QWK): </a:t>
            </a:r>
            <a:r>
              <a:rPr b="0" sz="1100">
                <a:solidFill>
                  <a:srgbClr val="1E293B"/>
                </a:solidFill>
                <a:latin typeface="Segoe UI"/>
              </a:rPr>
              <a:t>Standard conference agreement metric; quadratically penalizes severe grade misclassifications (Correct vs Contradictory).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✔ Accuracy &amp; Macro-F1: </a:t>
            </a:r>
            <a:r>
              <a:rPr b="0" sz="1100">
                <a:solidFill>
                  <a:srgbClr val="1E293B"/>
                </a:solidFill>
                <a:latin typeface="Segoe UI"/>
              </a:rPr>
              <a:t>Measures balanced classification across score categories.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✔ JSON Compliance Rate: </a:t>
            </a:r>
            <a:r>
              <a:rPr b="0" sz="1100">
                <a:solidFill>
                  <a:srgbClr val="1E293B"/>
                </a:solidFill>
                <a:latin typeface="Segoe UI"/>
              </a:rPr>
              <a:t>Measures structural output reliability for automated LMS integration.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✔ Hallucination Rate: </a:t>
            </a:r>
            <a:r>
              <a:rPr b="0" sz="1100">
                <a:solidFill>
                  <a:srgbClr val="1E293B"/>
                </a:solidFill>
                <a:latin typeface="Segoe UI"/>
              </a:rPr>
              <a:t>Identifies unsupported factual claims in feedback using NLI filtering followed by author verification.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✔ Hardware Setup: </a:t>
            </a:r>
            <a:r>
              <a:rPr b="0" sz="1100">
                <a:solidFill>
                  <a:srgbClr val="1E293B"/>
                </a:solidFill>
                <a:latin typeface="Segoe UI"/>
              </a:rPr>
              <a:t>Local NVIDIA GPU workstation with CUDA acceleration; Qwen2.5-3B quantized to 4-bit NF4 (~450ms CPU / ~120ms GPU).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Quantitative Results: HybridASAG Outperforms Base LLMs with 85.5% QWK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73736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1554480"/>
                <a:gridCol w="1554480"/>
                <a:gridCol w="1554480"/>
                <a:gridCol w="1554480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QWK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JSON Compl.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Hallucination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Qwen2.5-1.5B (Direct Prompt)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68.42%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65.20%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60.15%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85.30%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18.50%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Qwen2.5-3B (Direct Prompt)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75.85%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75.50%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72.40%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92.47%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Hybrid (-Logic)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78.10%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77.54%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75.20%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98.85%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4.15%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4213D"/>
                          </a:solidFill>
                          <a:latin typeface="Segoe UI"/>
                        </a:defRPr>
                      </a:pPr>
                      <a:r>
                        <a:t>HybridASAG (Full 5+1 Proposed)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83.50%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82.90%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85.50%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99.12%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8B22"/>
                          </a:solidFill>
                          <a:latin typeface="Segoe UI"/>
                        </a:defRPr>
                      </a:pPr>
                      <a:r>
                        <a:t>1.24%</a:t>
                      </a:r>
                    </a:p>
                  </a:txBody>
                  <a:tcPr>
                    <a:solidFill>
                      <a:srgbClr val="E6F5E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41248" y="4389120"/>
            <a:ext cx="10515600" cy="173736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B5DAA"/>
                </a:solidFill>
              </a:defRPr>
            </a:pPr>
            <a:r>
              <a:t>Key Analytical Takeaways (TABLE II-A &amp; II-B):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B5DAA"/>
                </a:solidFill>
                <a:latin typeface="Segoe UI"/>
              </a:rPr>
              <a:t>✔ Substantial Agreement Boost: </a:t>
            </a:r>
            <a:r>
              <a:rPr b="0" sz="1100">
                <a:solidFill>
                  <a:srgbClr val="1E293B"/>
                </a:solidFill>
                <a:latin typeface="Segoe UI"/>
              </a:rPr>
              <a:t>HybridASAG achieves 85.50% QWK, outperforming direct Qwen2.5-3B prompting by +13.10% QWK and +7.65% Accuracy.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B5DAA"/>
                </a:solidFill>
                <a:latin typeface="Segoe UI"/>
              </a:rPr>
              <a:t>✔ Virtually Zero Hallucination: </a:t>
            </a:r>
            <a:r>
              <a:rPr b="0" sz="1100">
                <a:solidFill>
                  <a:srgbClr val="1E293B"/>
                </a:solidFill>
                <a:latin typeface="Segoe UI"/>
              </a:rPr>
              <a:t>Constraining the LLM with deterministic tags slashes Hallucination Rate from 10.73% down to only 1.24%.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B5DAA"/>
                </a:solidFill>
                <a:latin typeface="Segoe UI"/>
              </a:rPr>
              <a:t>✔ 99.12% Format Compliance: </a:t>
            </a:r>
            <a:r>
              <a:rPr b="0" sz="1100">
                <a:solidFill>
                  <a:srgbClr val="1E293B"/>
                </a:solidFill>
                <a:latin typeface="Segoe UI"/>
              </a:rPr>
              <a:t>Decoupled pipeline ensures stable, parseable JSON output, rendering the system enterprise-ready for automated exam workflows.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Cross-Domain Generalization Across Electronics, Science, and Computer Science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73736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1828800"/>
                <a:gridCol w="1828800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Benchmark Dataset (Domain)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Samples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QWK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5DAA"/>
                          </a:solidFill>
                          <a:latin typeface="Segoe UI"/>
                        </a:defRPr>
                      </a:pPr>
                      <a:r>
                        <a:t>Beetle — Unseen Answers (Electronics)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~700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84.20%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83.50%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86.10%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5DAA"/>
                          </a:solidFill>
                          <a:latin typeface="Segoe UI"/>
                        </a:defRPr>
                      </a:pPr>
                      <a:r>
                        <a:t>Beetle — Unseen Questions (Electronics)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~700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82.80%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82.10%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84.70%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5DAA"/>
                          </a:solidFill>
                          <a:latin typeface="Segoe UI"/>
                        </a:defRPr>
                      </a:pPr>
                      <a:r>
                        <a:t>SciEntsBank — Test (General Science)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~3,500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83.90%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83.20%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85.80%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B5DAA"/>
                          </a:solidFill>
                          <a:latin typeface="Segoe UI"/>
                        </a:defRPr>
                      </a:pPr>
                      <a:r>
                        <a:t>Mohler — 5-Fold Cross Validation (CS Data Structures)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2,442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82.60 ± 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81.90 ± 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t>84.50 ± 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41248" y="4389120"/>
            <a:ext cx="10515600" cy="173736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B5DAA"/>
                </a:solidFill>
              </a:defRPr>
            </a:pPr>
            <a:r>
              <a:t>Generalization &amp; Out-of-Domain Robustness (Section IV-D):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B5DAA"/>
                </a:solidFill>
                <a:latin typeface="Segoe UI"/>
              </a:rPr>
              <a:t>✔ Robust to Unseen Questions: </a:t>
            </a:r>
            <a:r>
              <a:rPr b="0" sz="1100">
                <a:solidFill>
                  <a:srgbClr val="1E293B"/>
                </a:solidFill>
                <a:latin typeface="Segoe UI"/>
              </a:rPr>
              <a:t>On Beetle Unseen Questions (UQ), QWK maintains a solid 84.70%, proving the model does not overfit to seen prompt structures.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B5DAA"/>
                </a:solidFill>
                <a:latin typeface="Segoe UI"/>
              </a:rPr>
              <a:t>✔ Large-Scale Science Validation: </a:t>
            </a:r>
            <a:r>
              <a:rPr b="0" sz="1100">
                <a:solidFill>
                  <a:srgbClr val="1E293B"/>
                </a:solidFill>
                <a:latin typeface="Segoe UI"/>
              </a:rPr>
              <a:t>Across 3,500 test questions in SciEntsBank, performance remains consistent at 85.80% QWK and 83.90% Accuracy.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B5DAA"/>
                </a:solidFill>
                <a:latin typeface="Segoe UI"/>
              </a:rPr>
              <a:t>✔ Multi-Annotator CS Agreement: </a:t>
            </a:r>
            <a:r>
              <a:rPr b="0" sz="1100">
                <a:solidFill>
                  <a:srgbClr val="1E293B"/>
                </a:solidFill>
                <a:latin typeface="Segoe UI"/>
              </a:rPr>
              <a:t>On Mohler (2,442 university CS answers), 5-fold CV achieves 84.50 ± 2.8% QWK, showing exceptional alignment with human professors.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Ablation Study: NLI Logic is the Primary Linchpin Against Hallucinatory Grades</a:t>
            </a:r>
          </a:p>
        </p:txBody>
      </p:sp>
      <p:pic>
        <p:nvPicPr>
          <p:cNvPr id="3" name="Picture 2" descr="fig11_ablation_signific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91640"/>
            <a:ext cx="6217920" cy="283855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23760" y="1691640"/>
            <a:ext cx="4114800" cy="438912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4213D"/>
                </a:solidFill>
              </a:defRPr>
            </a:pPr>
            <a:r>
              <a:t>Ablation Findings (Section IV-E)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B42828"/>
                </a:solidFill>
              </a:rPr>
              <a:t>• Removing Logic Module (-Logic): </a:t>
            </a:r>
            <a:r>
              <a:rPr sz="1100">
                <a:solidFill>
                  <a:srgbClr val="1E293B"/>
                </a:solidFill>
              </a:rPr>
              <a:t>Causes a catastrophic drop in QWK from 85.50% down to 75.20% (Δ = -10.30%)! Accuracy falls from 83.50% to 78.10%.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B42828"/>
                </a:solidFill>
              </a:rPr>
              <a:t>• Hallucination Triples Without Logic: </a:t>
            </a:r>
            <a:r>
              <a:rPr sz="1100">
                <a:solidFill>
                  <a:srgbClr val="1E293B"/>
                </a:solidFill>
              </a:rPr>
              <a:t>Without DeBERTa NLI, Hallucination Rate spikes from 1.24% to 4.15%. Logic is essential to penalize factual inversions.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5DAA"/>
                </a:solidFill>
              </a:rPr>
              <a:t>• Semantic Embeddings Anchor Baseline: </a:t>
            </a:r>
            <a:r>
              <a:rPr sz="1100">
                <a:solidFill>
                  <a:srgbClr val="1E293B"/>
                </a:solidFill>
              </a:rPr>
              <a:t>SimCSE drives initial paraphrase recognition (w_sem = 0.15); removing it impairs synonym recall.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5DAA"/>
                </a:solidFill>
              </a:rPr>
              <a:t>• Grammar &amp; Formality are Non-Destructive: </a:t>
            </a:r>
            <a:r>
              <a:rPr sz="1100">
                <a:solidFill>
                  <a:srgbClr val="1E293B"/>
                </a:solidFill>
              </a:rPr>
              <a:t>Grammar (10%) and Formality (5%) contribute fine-grained calibration without unfairly penalizing ESL students.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Qualitative Case Study: Catching Factual Errors that Fool Base LLMs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5120640" cy="438912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5DAA"/>
                </a:solidFill>
              </a:defRPr>
            </a:pPr>
            <a:r>
              <a:t>Case 1: Computer Science Domain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Question: </a:t>
            </a:r>
            <a:r>
              <a:rPr sz="1100">
                <a:solidFill>
                  <a:srgbClr val="1E293B"/>
                </a:solidFill>
              </a:rPr>
              <a:t>Explain the main difference between a Stack and a Queue.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Reference: </a:t>
            </a:r>
            <a:r>
              <a:rPr sz="1100">
                <a:solidFill>
                  <a:srgbClr val="1E293B"/>
                </a:solidFill>
              </a:rPr>
              <a:t>Stack = LIFO (Last-In-First-Out); Queue = FIFO (First-In-First-Out).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Student Answer: </a:t>
            </a:r>
            <a:r>
              <a:rPr sz="1100">
                <a:solidFill>
                  <a:srgbClr val="1E293B"/>
                </a:solidFill>
              </a:rPr>
              <a:t>"A Stack uses LIFO, meaning the first item added is the first one removed. A Queue uses FIFO." [INVERTED LOGIC!]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B42828"/>
                </a:solidFill>
              </a:rPr>
              <a:t>Base LLM (Qwen2.5-3B): </a:t>
            </a:r>
            <a:r>
              <a:rPr sz="1100">
                <a:solidFill>
                  <a:srgbClr val="1E293B"/>
                </a:solidFill>
              </a:rPr>
              <a:t>[Grade: 100/100] 'Your answer is perfect. You correctly identified that Stack uses LIFO and Queue uses FIFO.' [CRITICAL FAILURE!]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228B22"/>
                </a:solidFill>
              </a:rPr>
              <a:t>HybridASAG (Proposed): </a:t>
            </a:r>
            <a:r>
              <a:rPr sz="1100">
                <a:solidFill>
                  <a:srgbClr val="1E293B"/>
                </a:solidFill>
              </a:rPr>
              <a:t>[Grade: 50/100] 'Partially Correct. You correctly named LIFO and FIFO. However, your definition of LIFO is a logical error: the last item added is removed first.'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5DAA"/>
                </a:solidFill>
              </a:defRPr>
            </a:pPr>
            <a:r>
              <a:t>Case 2: Biology / STEM Domain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Question: </a:t>
            </a:r>
            <a:r>
              <a:rPr sz="1100">
                <a:solidFill>
                  <a:srgbClr val="1E293B"/>
                </a:solidFill>
              </a:rPr>
              <a:t>What is the primary function of red blood cells?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Reference: </a:t>
            </a:r>
            <a:r>
              <a:rPr sz="1100">
                <a:solidFill>
                  <a:srgbClr val="1E293B"/>
                </a:solidFill>
              </a:rPr>
              <a:t>Carry oxygen from lungs to the body and bring carbon dioxide back.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14213D"/>
                </a:solidFill>
              </a:rPr>
              <a:t>Student Answer: </a:t>
            </a:r>
            <a:r>
              <a:rPr sz="1100">
                <a:solidFill>
                  <a:srgbClr val="1E293B"/>
                </a:solidFill>
              </a:rPr>
              <a:t>"Red blood cells carry oxygen around the body and help fight infections." [FACTUAL ERROR!]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B42828"/>
                </a:solidFill>
              </a:rPr>
              <a:t>Base LLM (Qwen2.5-3B): </a:t>
            </a:r>
            <a:r>
              <a:rPr sz="1100">
                <a:solidFill>
                  <a:srgbClr val="1E293B"/>
                </a:solidFill>
              </a:rPr>
              <a:t>[Grade: 95/100] 'Excellent. You correctly stated that red blood cells carry oxygen and fight infections.' [HALLUCINATION!]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228B22"/>
                </a:solidFill>
              </a:rPr>
              <a:t>HybridASAG (Proposed): </a:t>
            </a:r>
            <a:r>
              <a:rPr sz="1100">
                <a:solidFill>
                  <a:srgbClr val="1E293B"/>
                </a:solidFill>
              </a:rPr>
              <a:t>[Grade: 60/100] 'Partially Correct. While you are right about carrying oxygen, fighting infections is a factual error (white blood cells do that).'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Production Implementation: Real-Time Web Interface for Teachers and Students</a:t>
            </a:r>
          </a:p>
        </p:txBody>
      </p:sp>
      <p:pic>
        <p:nvPicPr>
          <p:cNvPr id="3" name="Picture 2" descr="grading_u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91640"/>
            <a:ext cx="6583680" cy="334587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89520" y="1691640"/>
            <a:ext cx="3749039" cy="438912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4213D"/>
                </a:solidFill>
              </a:defRPr>
            </a:pPr>
            <a:r>
              <a:t>Operational Architecture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5DAA"/>
                </a:solidFill>
              </a:rPr>
              <a:t>• Full-Stack Implementation: </a:t>
            </a:r>
            <a:r>
              <a:rPr sz="1100">
                <a:solidFill>
                  <a:srgbClr val="1E293B"/>
                </a:solidFill>
              </a:rPr>
              <a:t>FastAPI asynchronous backend with PyTorch/HuggingFace + React/Vite interactive frontend.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5DAA"/>
                </a:solidFill>
              </a:rPr>
              <a:t>• Sub-Second Inference: </a:t>
            </a:r>
            <a:r>
              <a:rPr sz="1100">
                <a:solidFill>
                  <a:srgbClr val="1E293B"/>
                </a:solidFill>
              </a:rPr>
              <a:t>Parallelized feature extractors compute 5 tags in ~450ms on CPU or ~120ms with CUDA.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5DAA"/>
                </a:solidFill>
              </a:rPr>
              <a:t>• Diagnostic Radar Breakdown: </a:t>
            </a:r>
            <a:r>
              <a:rPr sz="1100">
                <a:solidFill>
                  <a:srgbClr val="1E293B"/>
                </a:solidFill>
              </a:rPr>
              <a:t>Instructors visually inspect scores across all 5 dimensions simultaneously.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5DAA"/>
                </a:solidFill>
              </a:rPr>
              <a:t>• Missing Vocabulary Extraction: </a:t>
            </a:r>
            <a:r>
              <a:rPr sz="1100">
                <a:solidFill>
                  <a:srgbClr val="1E293B"/>
                </a:solidFill>
              </a:rPr>
              <a:t>Automatically flags missing essential keywords (e.g., 'photosynthesis', 'carbon dioxide').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B5DAA"/>
                </a:solidFill>
              </a:rPr>
              <a:t>• Rule-Based Fallback: </a:t>
            </a:r>
            <a:r>
              <a:rPr sz="1100">
                <a:solidFill>
                  <a:srgbClr val="1E293B"/>
                </a:solidFill>
              </a:rPr>
              <a:t>If LLM generation is bypassed (`skip_llm=True`), templated feedback executes in 5ms with zero VRAM.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2300" b="1">
                <a:solidFill>
                  <a:srgbClr val="14213D"/>
                </a:solidFill>
                <a:latin typeface="Segoe UI"/>
              </a:defRPr>
            </a:pPr>
            <a:r>
              <a:t>Conclusion: A Trustworthy, Explainable, and Practical Path Forward for ASAG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5120640" cy="329184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B5DAA"/>
                </a:solidFill>
                <a:latin typeface="Segoe UI"/>
              </a:defRPr>
            </a:pPr>
            <a:r>
              <a:t>Core Contributions &amp; Findings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✔ Decoupled Paradigm: </a:t>
            </a:r>
            <a:r>
              <a:rPr b="0" sz="1100">
                <a:solidFill>
                  <a:srgbClr val="1E293B"/>
                </a:solidFill>
                <a:latin typeface="Segoe UI"/>
              </a:rPr>
              <a:t>Separated deterministic criterion-level scoring from LLM feedback synthesis, eliminating grade hallucinations.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✔ Empirical Validation: </a:t>
            </a:r>
            <a:r>
              <a:rPr b="0" sz="1100">
                <a:solidFill>
                  <a:srgbClr val="1E293B"/>
                </a:solidFill>
                <a:latin typeface="Segoe UI"/>
              </a:rPr>
              <a:t>Achieved 85.50% QWK and 83.50% Accuracy on SemEval and Mohler benchmarks, outperforming base LLMs.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✔ Logic is Crucial: </a:t>
            </a:r>
            <a:r>
              <a:rPr b="0" sz="1100">
                <a:solidFill>
                  <a:srgbClr val="1E293B"/>
                </a:solidFill>
                <a:latin typeface="Segoe UI"/>
              </a:rPr>
              <a:t>Proved that NLI logic is the essential linchpin preventing factual inversion errors in automated assessment.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91640"/>
            <a:ext cx="5120640" cy="3291840"/>
          </a:xfrm>
          <a:prstGeom prst="roundRect">
            <a:avLst/>
          </a:prstGeom>
          <a:solidFill>
            <a:srgbClr val="F3F6FB"/>
          </a:solidFill>
          <a:ln w="15240">
            <a:solidFill>
              <a:srgbClr val="CB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39200"/>
                </a:solidFill>
                <a:latin typeface="Segoe UI"/>
              </a:defRPr>
            </a:pPr>
            <a:r>
              <a:t>Future Work &amp; Open Science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• Cross-Lingual Generalization: </a:t>
            </a:r>
            <a:r>
              <a:rPr b="0" sz="1100">
                <a:solidFill>
                  <a:srgbClr val="1E293B"/>
                </a:solidFill>
                <a:latin typeface="Segoe UI"/>
              </a:rPr>
              <a:t>Extending expert encoders to Vietnamese and low-resource Southeast Asian languages.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• Multiple Reference Answers: </a:t>
            </a:r>
            <a:r>
              <a:rPr b="0" sz="1100">
                <a:solidFill>
                  <a:srgbClr val="1E293B"/>
                </a:solidFill>
                <a:latin typeface="Segoe UI"/>
              </a:rPr>
              <a:t>Calibrating dynamic weights for questions with divergent valid solution paths.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• Open-Source Code &amp; Artifacts: </a:t>
            </a:r>
            <a:r>
              <a:rPr b="0" sz="1100">
                <a:solidFill>
                  <a:srgbClr val="1B5DAA"/>
                </a:solidFill>
                <a:latin typeface="Segoe UI"/>
              </a:rPr>
              <a:t>github.com/dothanhhxx/AutoGradeSystem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4213D"/>
                </a:solidFill>
                <a:latin typeface="Segoe UI"/>
              </a:rPr>
              <a:t>• Corresponding Author: </a:t>
            </a:r>
            <a:r>
              <a:rPr b="0" sz="1100">
                <a:solidFill>
                  <a:srgbClr val="1E293B"/>
                </a:solidFill>
                <a:latin typeface="Segoe UI"/>
              </a:rPr>
              <a:t>Do Thanh Hai · IEEE ICOCO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5166360"/>
            <a:ext cx="10515600" cy="1051560"/>
          </a:xfrm>
          <a:prstGeom prst="roundRect">
            <a:avLst/>
          </a:prstGeom>
          <a:solidFill>
            <a:srgbClr val="F0F5FC"/>
          </a:solidFill>
          <a:ln w="15240">
            <a:solidFill>
              <a:srgbClr val="1B5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B5DAA"/>
                </a:solidFill>
                <a:latin typeface="Segoe UI"/>
              </a:defRPr>
            </a:pPr>
            <a:r>
              <a:t>Thank you for your attention!  ·  Q&amp;A Session</a:t>
            </a:r>
          </a:p>
          <a:p>
            <a:pPr algn="ctr">
              <a:defRPr sz="1200">
                <a:solidFill>
                  <a:srgbClr val="14213D"/>
                </a:solidFill>
                <a:latin typeface="Segoe UI"/>
              </a:defRPr>
            </a:pPr>
            <a:r>
              <a:t>We welcome questions and discussion from the session chairs and audience.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CO 2026">
      <a:dk1>
        <a:srgbClr val="14213D"/>
      </a:dk1>
      <a:lt1>
        <a:sysClr val="window" lastClr="FFFFFF"/>
      </a:lt1>
      <a:dk2>
        <a:srgbClr val="0E2841"/>
      </a:dk2>
      <a:lt2>
        <a:srgbClr val="F2F6FB"/>
      </a:lt2>
      <a:accent1>
        <a:srgbClr val="1B5DAA"/>
      </a:accent1>
      <a:accent2>
        <a:srgbClr val="F39200"/>
      </a:accent2>
      <a:accent3>
        <a:srgbClr val="1EA0DC"/>
      </a:accent3>
      <a:accent4>
        <a:srgbClr val="E8453C"/>
      </a:accent4>
      <a:accent5>
        <a:srgbClr val="6B7A90"/>
      </a:accent5>
      <a:accent6>
        <a:srgbClr val="FFC266"/>
      </a:accent6>
      <a:hlink>
        <a:srgbClr val="1B5DAA"/>
      </a:hlink>
      <a:folHlink>
        <a:srgbClr val="2A4A66"/>
      </a:folHlink>
    </a:clrScheme>
    <a:fontScheme name="Custom 13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-icoco-2026.potx" id="{42593825-DDD8-4065-AC76-17F1F2215341}" vid="{CEB74441-719A-4A02-814A-1777FE82C7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22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 VEI SIANG</dc:creator>
  <cp:lastModifiedBy>CHAN VEI SIANG</cp:lastModifiedBy>
  <cp:revision>23</cp:revision>
  <dcterms:created xsi:type="dcterms:W3CDTF">2026-10-04T11:14:08Z</dcterms:created>
  <dcterms:modified xsi:type="dcterms:W3CDTF">2026-10-04T11:50:17Z</dcterms:modified>
</cp:coreProperties>
</file>