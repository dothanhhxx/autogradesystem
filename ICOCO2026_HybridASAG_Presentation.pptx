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74" d="100"/>
          <a:sy n="74" d="100"/>
        </p:scale>
        <p:origin x="75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00F20-0B1A-4D37-9008-77F386FB1B0F}" type="datetimeFigureOut">
              <a:rPr lang="en-MY" smtClean="0"/>
              <a:t>4/10/2026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EADE24-9E59-45E1-AABE-F90C9633F2E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7788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0:00 - 1:00]</a:t>
            </a:r>
          </a:p>
          <a:p>
            <a:r>
              <a:t>Opening Hook: Good morning, session chair and esteemed audience. Today I present our paper: 'Beyond Single LLMs: A Hybrid Multi-Model Framework for Explainable Short Answer Grading'.</a:t>
            </a:r>
          </a:p>
          <a:p>
            <a:r>
              <a:t>While Large Language Models have taken NLP by storm, deploying them as monolithic black-box graders introduces severe risks: hallucinated grades, superficial bias, and zero auditability.</a:t>
            </a:r>
          </a:p>
          <a:p>
            <a:r>
              <a:t>In this talk, we present HybridASAG: a 5+1 decoupled architecture that achieves superior grading agreement while providing crystal-clear pedagogical explanations at a fraction of the compute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1:00 - 2:15]</a:t>
            </a:r>
          </a:p>
          <a:p>
            <a:r>
              <a:t>Key Point: Short Answer Grading (ASAG) sits at the frontier of EdTech. Unlike multiple choice, open-ended responses test true student comprehension.</a:t>
            </a:r>
          </a:p>
          <a:p>
            <a:r>
              <a:t>However, grading at scale hits three hard walls: extreme teacher workload, the strict pedagogical requirement for actionable diagnostic feedback, and institutional demand for deterministic, low-cost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2:15 - 3:30]</a:t>
            </a:r>
          </a:p>
          <a:p>
            <a:r>
              <a:t>Key Point: Recent papers simply prompted GPT-4 or Llama to 'Grade this answer 1 to 5'. Why is this dangerous?</a:t>
            </a:r>
          </a:p>
          <a:p>
            <a:r>
              <a:t>First, length bias: LLMs fall in love with fluent English, even if the student is totally wrong.</a:t>
            </a:r>
          </a:p>
          <a:p>
            <a:r>
              <a:t>Second, latency &amp; compute: universities cannot afford GPU clusters to grade thousands of midterm exams.</a:t>
            </a:r>
          </a:p>
          <a:p>
            <a:r>
              <a:t>This motivates our core research question: How do we get the reasoning depth of AI without trusting a black box?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3:30 - 4:45]</a:t>
            </a:r>
          </a:p>
          <a:p>
            <a:r>
              <a:t>Key Point: This slide illustrates the central architecture of HybridASAG.</a:t>
            </a:r>
          </a:p>
          <a:p>
            <a:r>
              <a:t>Notice the fundamental separation of concerns:</a:t>
            </a:r>
          </a:p>
          <a:p>
            <a:r>
              <a:t>Layer 1 extracts 5 orthogonal linguistic features using compact, purpose-built transformers.</a:t>
            </a:r>
          </a:p>
          <a:p>
            <a:r>
              <a:t>Layer 2 performs a deterministic weighted sum to produce the grade.</a:t>
            </a:r>
          </a:p>
          <a:p>
            <a:r>
              <a:t>The LLM (Qwen2.5-3B) is strictly an explainer—it translates the 5 diagnostic numbers into teacher-like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4:45 - 5:45]</a:t>
            </a:r>
          </a:p>
          <a:p>
            <a:r>
              <a:t>Key Point: Why these five? Because they capture orthogonal facets of student answers.</a:t>
            </a:r>
          </a:p>
          <a:p>
            <a:r>
              <a:t>SimCSE handles semantic paraphrasing so students aren't punished for using different wording.</a:t>
            </a:r>
          </a:p>
          <a:p>
            <a:r>
              <a:t>KeyBERT ensures required terminology is present.</a:t>
            </a:r>
          </a:p>
          <a:p>
            <a:r>
              <a:t>Crucially, DeBERTa NLI checks logical consistency: if a student says 'Plants absorb oxygen to produce CO2', SimCSE might score high because of word overlap, but DeBERTa immediately flags the Contradiction!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5:45 - 6:45]</a:t>
            </a:r>
          </a:p>
          <a:p>
            <a:r>
              <a:t>Key Point: Another major advantage of our hybrid system is flexibility.</a:t>
            </a:r>
          </a:p>
          <a:p>
            <a:r>
              <a:t>Instructors can choose human-designed presets (like Logic-Heavy for computer science), OR use our ML Weight Optimizer to learn weights directly from past student papers.</a:t>
            </a:r>
          </a:p>
          <a:p>
            <a:r>
              <a:t>Notice that our optimizer found Formality should have 0% weight in STEM subjects—students shouldn't lose marks for slang if the physics is right!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6:45 - 7:45]</a:t>
            </a:r>
          </a:p>
          <a:p>
            <a:r>
              <a:t>Key Point: Moving to evaluation: we tested across three distinct domains including the gold-standard SemEval-2013 Task 7.</a:t>
            </a:r>
          </a:p>
          <a:p>
            <a:r>
              <a:t>In educational assessment, raw accuracy is misleading. Quadratic Weighted Kappa (QWK) is the industry standard because grading a completely wrong answer as 'correct' is far worse than grading 'correct' as 'partially correct'.</a:t>
            </a:r>
          </a:p>
          <a:p>
            <a:r>
              <a:t>We also report Pearson r and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7:45 - 9:00]</a:t>
            </a:r>
          </a:p>
          <a:p>
            <a:r>
              <a:t>Key Point: Here are the main results.</a:t>
            </a:r>
          </a:p>
          <a:p>
            <a:r>
              <a:t>Notice the comparison: Prompted Zero-Shot LLMs achieve 0.645 accuracy and 0.567 QWK.</a:t>
            </a:r>
          </a:p>
          <a:p>
            <a:r>
              <a:t>Our HybridASAG system achieves 0.756 accuracy and 0.689 QWK—a massive 12.2% gain in inter-rater agreement.</a:t>
            </a:r>
          </a:p>
          <a:p>
            <a:r>
              <a:t>Crucially, look at 'Hybrid-RuleOnly': even if you disable the LLM completely, our 5 models alone score 0.645 QWK, proving that the structured features—not LLM hallucinations—drive the superior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9:00 - 10:15]</a:t>
            </a:r>
          </a:p>
          <a:p>
            <a:r>
              <a:t>Key Point: Which component matters most? Our ablation study provides definitive empirical proof.</a:t>
            </a:r>
          </a:p>
          <a:p>
            <a:r>
              <a:t>Looking at the right chart, removing NLI Logic results in a 0.103 crash in QWK with p &lt; 0.001.</a:t>
            </a:r>
          </a:p>
          <a:p>
            <a:r>
              <a:t>Why? Because when a student gives a logically inverted answer, SimCSE thinks the words match! Only NLI catches the fact that they contradicted the premise.</a:t>
            </a:r>
          </a:p>
          <a:p>
            <a:r>
              <a:t>Meanwhile, Grammar and Formality have very low impact—which is exactly what we want in fair grading.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10:15 - 11:15]</a:t>
            </a:r>
          </a:p>
          <a:p>
            <a:r>
              <a:t>Key Point: To generate feedback, we evaluated multiple candidate SLMs (Small Language Models).</a:t>
            </a:r>
          </a:p>
          <a:p>
            <a:r>
              <a:t>In automated production pipelines, formatting failures are unacceptable. Phi-3-Mini failed JSON parsing 21% of the time, whereas Qwen2.5-3B achieved over 90% compliance.</a:t>
            </a:r>
          </a:p>
          <a:p>
            <a:r>
              <a:t>Furthermore, with 4-bit quantization, it runs in just 2.5 GB of VRAM. If the system is under heavy load, our rule-based engine can kick in instantly without dropping a single student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11:15 - 12:15]</a:t>
            </a:r>
          </a:p>
          <a:p>
            <a:r>
              <a:t>Key Point: This slide shows our live production system running in our laboratory.</a:t>
            </a:r>
          </a:p>
          <a:p>
            <a:r>
              <a:t>Look at how an educator or student experiences this result.</a:t>
            </a:r>
          </a:p>
          <a:p>
            <a:r>
              <a:t>The student scored 67. Why? Not because the model 'felt like it'.</a:t>
            </a:r>
          </a:p>
          <a:p>
            <a:r>
              <a:t>They see 95% grammar, 100% formality, but only 20% keyword coverage.</a:t>
            </a:r>
          </a:p>
          <a:p>
            <a:r>
              <a:t>The system explicitly highlights that the words 'photosynthesis' and 'carbon dioxide' were omitted.</a:t>
            </a:r>
          </a:p>
          <a:p>
            <a:r>
              <a:t>This is true formative assessment: transparent, reproducible, and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12:15 - 13:15]</a:t>
            </a:r>
          </a:p>
          <a:p>
            <a:r>
              <a:t>Key Point: To summarize our three core contributions:</a:t>
            </a:r>
          </a:p>
          <a:p>
            <a:r>
              <a:t>First: A new decoupled paradigm that solves the black-box problem.</a:t>
            </a:r>
          </a:p>
          <a:p>
            <a:r>
              <a:t>Second: Comprehensive empirical validation proving that NLI Logic + Semantic Similarity beat monolithic LLMs.</a:t>
            </a:r>
          </a:p>
          <a:p>
            <a:r>
              <a:t>Third: A lightweight, open-source engineering system ready for real-world school and university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[Timing: 13:15 - 15:00+ (Q&amp;A Anchor)]</a:t>
            </a:r>
          </a:p>
          <a:p>
            <a:r>
              <a:t>Key Point: Leave this slide on screen during the 2-3 minute Q&amp;A session.</a:t>
            </a:r>
          </a:p>
          <a:p>
            <a:r>
              <a:t>Anticipated Q&amp;A Questions:</a:t>
            </a:r>
          </a:p>
          <a:p>
            <a:r>
              <a:t>1. Q: Why not fine-tune a single LLaMA model on SemEval?</a:t>
            </a:r>
          </a:p>
          <a:p>
            <a:r>
              <a:t>   A: Fine-tuning a single model still reproduces a black box. You cannot guarantee that length bias disappears, and you cannot adjust weights per course without retraining.</a:t>
            </a:r>
          </a:p>
          <a:p>
            <a:r>
              <a:t>2. Q: Why is Formality given 0% weight in ML optimization?</a:t>
            </a:r>
          </a:p>
          <a:p>
            <a:r>
              <a:t>   A: Because in STEM/CS grading, penalizing informal language often introduces cultural and ESL bias rather than measuring true mastery.</a:t>
            </a:r>
          </a:p>
          <a:p>
            <a:r>
              <a:t>3. Q: How does latency compare?</a:t>
            </a:r>
          </a:p>
          <a:p>
            <a:r>
              <a:t>   A: Layer 1 runs in parallel in ~120ms on GPU or ~450ms on CPU. Pure LLM generation takes 5-15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DC828-EEA9-A2E6-5B1B-42E79F5AF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509923"/>
            <a:ext cx="9144000" cy="2387600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70A53E-D623-AEDD-ABF9-FF25097E9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98959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MY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A4D71-148C-4E9C-E464-4585FFB0D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fld id="{A5881A61-E187-40B7-A6DE-E6649FBA2C2F}" type="datetime1">
              <a:rPr lang="en-MY" smtClean="0"/>
              <a:pPr/>
              <a:t>4/10/2026</a:t>
            </a:fld>
            <a:endParaRPr lang="en-MY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B9605-CC60-9011-3167-BE98A873A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endParaRPr lang="en-MY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4BB95-DABF-F472-4444-EE73FC8E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14688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FB2F8-AF09-4B70-D01A-0A20BEFB1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AAFC2-FF9E-026F-B8C0-A743AEC1A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2DA0F-AB79-50BC-42B6-D333FD14F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A9EB7-AFCA-48FA-8D3F-2FF3451DCCA1}" type="datetime1">
              <a:rPr lang="en-MY" smtClean="0"/>
              <a:t>4/10/2026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14A9D-63D6-E15C-F963-369101462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BF15A-DDCE-7E28-EB37-0F0759D55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5972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2383C-9EBB-73F1-ABDF-DD1C8F97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5768053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067332-91E4-A9BC-5136-5ECF23B0B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576805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5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58336-059E-850F-AC41-B2996C191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A577D-AE40-4CD8-8F30-24006792B1B1}" type="datetime1">
              <a:rPr lang="en-MY" smtClean="0"/>
              <a:t>4/10/2026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24D48-0B4A-398F-E97E-1747A8DE7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BB8F6-8871-1AF0-A5E2-1763D3E50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45752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63A38-1647-6EB4-9FBD-2F07DD17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432CB-DA29-49FE-EE4D-2607243FD1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149327-07B0-92B0-26E8-009201551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962F84-7B7F-3AF7-0354-A8E902FF8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F1B48-190A-4377-8FB8-14AD17F9D1F4}" type="datetime1">
              <a:rPr lang="en-MY" smtClean="0"/>
              <a:t>4/10/2026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F0262-72DB-D898-269A-F51B804A4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08CBC-EDB6-871C-F5C2-4BA0B96D7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643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EE12-7C28-E528-DE25-DC6A6ACC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992725-A37D-A229-CE43-833F7A123E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solidFill>
            <a:schemeClr val="accent2"/>
          </a:solidFill>
        </p:spPr>
        <p:txBody>
          <a:bodyPr anchor="ctr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5AB912-F371-D45B-2841-349AB59C7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D059F9-7042-8E3C-2339-D0670EBFC0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A2A2A6-C28E-58CC-7D58-22285274E2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4456DF-5518-C066-7507-A344FA916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28BE6-FAFD-41CD-B948-79FD206497EE}" type="datetime1">
              <a:rPr lang="en-MY" smtClean="0"/>
              <a:t>4/10/2026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CC194F-4517-9437-F58E-9B1500268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4F5CD-9725-A9F2-4C9A-6B599321D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1007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C19FD-9393-1329-BDA9-EBBD6BBC1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E07425-57A8-9DB3-1C88-C5908803E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B4C5E-3409-40E6-9C27-398859297883}" type="datetime1">
              <a:rPr lang="en-MY" smtClean="0"/>
              <a:t>4/10/2026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C96632-EB73-5ECE-414E-8A93B657F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6CAAC-F193-DC43-150C-EE8D37BBE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57891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898995-ECAC-F022-52A7-A7282608B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FDD15F31-6472-4209-A7F7-A31D38751590}" type="datetime1">
              <a:rPr lang="en-MY" smtClean="0"/>
              <a:t>4/10/2026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70D506-5609-4701-AE91-C8CD64C2F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endParaRPr lang="en-MY">
              <a:solidFill>
                <a:schemeClr val="accent5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9C260-0F2F-6F16-D900-0BE94831F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41063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9C141-F0B3-D087-3E27-A5B819D91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198812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E2D7A-6BB4-1985-57AA-8B1CA52DA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026" y="987425"/>
            <a:ext cx="701936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D1D4B6-ABAD-E8C1-4BCF-7A5EA4275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198812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53B8A-4C83-D9EF-50F6-89B18A35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2BCC4-6EE3-42AD-AFF7-A92FDEBC19B8}" type="datetime1">
              <a:rPr lang="en-MY" smtClean="0"/>
              <a:t>4/10/2026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6723B-0862-0C97-F657-FA370E370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endParaRPr lang="en-MY" dirty="0">
              <a:solidFill>
                <a:schemeClr val="accent5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7F9AFD-1983-4325-D62B-4B4350031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7031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9C141-F0B3-D087-3E27-A5B819D91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457200"/>
            <a:ext cx="3198812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E2D7A-6BB4-1985-57AA-8B1CA52DA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7425"/>
            <a:ext cx="701936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D1D4B6-ABAD-E8C1-4BCF-7A5EA4275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53400" y="2057400"/>
            <a:ext cx="3198812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53B8A-4C83-D9EF-50F6-89B18A35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2E8F0701-25FF-400B-9896-A68A1813DA3F}" type="datetime1">
              <a:rPr lang="en-MY" smtClean="0"/>
              <a:t>4/10/2026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6723B-0862-0C97-F657-FA370E370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endParaRPr lang="en-MY" dirty="0">
              <a:solidFill>
                <a:schemeClr val="accent5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7F9AFD-1983-4325-D62B-4B4350031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65775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 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71531F-F3AC-D412-10C8-F477E90413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838200" y="987425"/>
            <a:ext cx="701936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B4B679-19B5-65CF-0CF1-0E5FBD5A7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457200"/>
            <a:ext cx="3195636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59A2A3-3D9E-1FC9-0C04-3BDD7AFFC1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53400" y="2057400"/>
            <a:ext cx="3195636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BA71B-14FE-9B23-6085-821F143DB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13017E7D-129D-426F-997F-17D89B3BE2A8}" type="datetime1">
              <a:rPr lang="en-MY" smtClean="0"/>
              <a:t>4/10/2026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A4CFFF-4925-3BA5-E4C5-786438303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endParaRPr lang="en-MY" dirty="0">
              <a:solidFill>
                <a:schemeClr val="accent5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1C0E30-4C99-A255-D241-A07A62ADE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77501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 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71531F-F3AC-D412-10C8-F477E90413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4336026" y="987425"/>
            <a:ext cx="701936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B4B679-19B5-65CF-0CF1-0E5FBD5A7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195636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59A2A3-3D9E-1FC9-0C04-3BDD7AFFC1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195636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BA71B-14FE-9B23-6085-821F143DB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1611B-1FB4-4C80-8B05-0DE57E69CD40}" type="datetime1">
              <a:rPr lang="en-MY" smtClean="0"/>
              <a:t>4/10/2026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A4CFFF-4925-3BA5-E4C5-786438303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endParaRPr lang="en-MY" dirty="0">
              <a:solidFill>
                <a:schemeClr val="accent5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1C0E30-4C99-A255-D241-A07A62ADE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335601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B0A2-A78F-034E-C5F2-CCA59072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277FA9-C50C-D302-B84F-1E87B19A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67E02B-5762-9C76-7FFD-7B74B2CC5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6C4474-560F-4175-A3E0-D58B0449ED04}" type="datetime1">
              <a:rPr lang="en-MY" smtClean="0"/>
              <a:t>4/10/2026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739B2-AB9F-3C68-1C1B-E39B2EADC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819B8-ECB0-D032-1092-EB022A4E7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89705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86F891-4A6A-5553-3C81-EA7C48B152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132141" y="365125"/>
            <a:ext cx="1841091" cy="5811838"/>
          </a:xfrm>
        </p:spPr>
        <p:txBody>
          <a:bodyPr vert="eaVer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E61C4C-DC70-E46C-7A2C-F379F146E1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966019"/>
            <a:ext cx="9116961" cy="521094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6C9DF-D503-895A-798F-0CA27B9CE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4483B6BC-DF73-418D-BB74-75315B950211}" type="datetime1">
              <a:rPr lang="en-MY" smtClean="0"/>
              <a:pPr/>
              <a:t>4/10/2026</a:t>
            </a:fld>
            <a:endParaRPr lang="en-MY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66F2A-975D-FE10-9E91-6F4E660B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endParaRPr lang="en-MY">
              <a:solidFill>
                <a:schemeClr val="accent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B409A-C23F-3B71-6425-A0384B7F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433920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28284C-557E-7B80-4922-87007A684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B86D92-17CE-769F-72AE-FA9891DB1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MY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70224-8D4B-9362-8033-C8A36D414F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fld id="{227EB5BB-382A-4932-8704-E72DF42830F5}" type="datetime1">
              <a:rPr lang="en-MY" smtClean="0"/>
              <a:pPr/>
              <a:t>4/10/2026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85C3D-832A-FD12-9466-2BAFE78186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endParaRPr lang="en-MY">
              <a:solidFill>
                <a:schemeClr val="tx1">
                  <a:lumMod val="10000"/>
                  <a:lumOff val="9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AB9C-8FC3-22CF-BD1E-F91DCAF21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fld id="{F3B56F2E-B3B8-4D26-93A8-217AC2026D91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21146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1" r:id="rId10"/>
    <p:sldLayoutId id="2147483657" r:id="rId11"/>
    <p:sldLayoutId id="2147483658" r:id="rId12"/>
    <p:sldLayoutId id="2147483659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Beyond Single LLMs: A Hybrid Multi-Model Framework</a:t>
            </a:r>
          </a:p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for Explainable Short Answer Grading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400">
                <a:solidFill>
                  <a:srgbClr val="DCEBFC"/>
                </a:solidFill>
                <a:latin typeface="Segoe UI"/>
              </a:defRPr>
            </a:pPr>
            <a:r>
              <a:t>2026 IEEE International Conference on Computing (ICOCO)</a:t>
            </a:r>
          </a:p>
          <a:p>
            <a:pPr>
              <a:defRPr sz="1400">
                <a:solidFill>
                  <a:srgbClr val="DCEBFC"/>
                </a:solidFill>
                <a:latin typeface="Segoe UI"/>
              </a:defRPr>
            </a:pPr>
          </a:p>
          <a:p>
            <a:pPr>
              <a:defRPr sz="1400">
                <a:solidFill>
                  <a:srgbClr val="DCEBFC"/>
                </a:solidFill>
                <a:latin typeface="Segoe UI"/>
              </a:defRPr>
            </a:pPr>
            <a:r>
              <a:t>Do Thanh Hai¹ · Research Team²</a:t>
            </a:r>
          </a:p>
          <a:p>
            <a:pPr>
              <a:defRPr sz="1400">
                <a:solidFill>
                  <a:srgbClr val="DCEBFC"/>
                </a:solidFill>
                <a:latin typeface="Segoe UI"/>
              </a:defRPr>
            </a:pPr>
            <a:r>
              <a:t>¹Department of Computer Science &amp; Engineering</a:t>
            </a:r>
          </a:p>
          <a:p>
            <a:pPr>
              <a:defRPr sz="1400">
                <a:solidFill>
                  <a:srgbClr val="DCEBFC"/>
                </a:solidFill>
                <a:latin typeface="Segoe UI"/>
              </a:defRPr>
            </a:pPr>
            <a:r>
              <a:t>Paper Track: AI in Education &amp; Natural Language Processing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Automated Grading in Modern Education Demands Both High Precision and Granular Explainability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291840" cy="411480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1B5DAA"/>
                </a:solidFill>
                <a:latin typeface="Segoe UI"/>
              </a:defRPr>
            </a:pPr>
            <a:r>
              <a:t>1. Scale &amp; Operational Bottlenecks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Rapid expansion of STEM, CS courses &amp; MOOCs yields tens of thousands of student submissions.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Manual grading introduces human fatigue, inconsistent intra-grader variance, and grading delays.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Short-answer questions (ASAG) are essential: they test conceptual synthesis better than multiple-choice.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07408" y="1828800"/>
            <a:ext cx="3291840" cy="411480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1B5DAA"/>
                </a:solidFill>
                <a:latin typeface="Segoe UI"/>
              </a:defRPr>
            </a:pPr>
            <a:r>
              <a:t>2. The Explainability Imperative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A single numeric mark (e.g., '7/10') is pedagogically unhelpful for student mastery.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Students need to know: Did they miss key keywords? Was their logic flawed? Or was phrasing informal?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Educators need defensible evidence to resolve grading appeals and maintain academic standards.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73568" y="1828800"/>
            <a:ext cx="3291840" cy="411480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1B5DAA"/>
                </a:solidFill>
                <a:latin typeface="Segoe UI"/>
              </a:defRPr>
            </a:pPr>
            <a:r>
              <a:t>3. Practical Deployment Needs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Real-time feedback during practice exams requires sub-second inference response.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Institution constraints: Low-cost server deployment without clusters of $10,000 GPUs.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Determinism: Identical student answers must reliably receive identical scores under audit.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Monolithic LLMs Suffer from Opacity, Hallucinatory Bias, and Compute Inefficiency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F39200"/>
                </a:solidFill>
                <a:latin typeface="Segoe UI"/>
              </a:defRPr>
            </a:pPr>
            <a:r>
              <a:t>Black-Box Pitfalls &amp; Hallucinations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Length &amp; Fluency Bias: </a:t>
            </a:r>
            <a:r>
              <a:rPr sz="1300">
                <a:solidFill>
                  <a:srgbClr val="1E293B"/>
                </a:solidFill>
              </a:rPr>
              <a:t>Prompted LLMs reward verbose, eloquently written submissions even when factual errors or contradictions exist.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Stochastic Score Drift: </a:t>
            </a:r>
            <a:r>
              <a:rPr sz="1300">
                <a:solidFill>
                  <a:srgbClr val="1E293B"/>
                </a:solidFill>
              </a:rPr>
              <a:t>Non-zero temperature or minor prompt formatting changes cause the same submission to oscillate across grade boundaries.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Post-Hoc Hallucinations: </a:t>
            </a:r>
            <a:r>
              <a:rPr sz="1300">
                <a:solidFill>
                  <a:srgbClr val="1E293B"/>
                </a:solidFill>
              </a:rPr>
              <a:t>When prompted to justify scores, single LLMs frequently invent missing criteria or reference absent rubric points.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Vulnerability to Adversarial Text: </a:t>
            </a:r>
            <a:r>
              <a:rPr sz="1300">
                <a:solidFill>
                  <a:srgbClr val="1E293B"/>
                </a:solidFill>
              </a:rPr>
              <a:t>Students appending 'Grade: 10/10' or injection cues can compromise grading consistency.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F39200"/>
                </a:solidFill>
                <a:latin typeface="Segoe UI"/>
              </a:defRPr>
            </a:pPr>
            <a:r>
              <a:t>Operational &amp; Infrastructure Limits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Prohibitive VRAM Demands: </a:t>
            </a:r>
            <a:r>
              <a:rPr sz="1300">
                <a:solidFill>
                  <a:srgbClr val="1E293B"/>
                </a:solidFill>
              </a:rPr>
              <a:t>Serving 7B+ parameter models requires 16GB+ VRAM, multiplying infrastructure costs for schools and universities.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High Latency Bottleneck: </a:t>
            </a:r>
            <a:r>
              <a:rPr sz="1300">
                <a:solidFill>
                  <a:srgbClr val="1E293B"/>
                </a:solidFill>
              </a:rPr>
              <a:t>Autoregressive token generation takes 5-15 seconds per single sentence, making concurrent mass exam grading impossible.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Unreliable JSON Compliance: </a:t>
            </a:r>
            <a:r>
              <a:rPr sz="1300">
                <a:solidFill>
                  <a:srgbClr val="1E293B"/>
                </a:solidFill>
              </a:rPr>
              <a:t>Generalist LLMs exhibit 10-30% JSON syntax failures under zero-shot prompting, crashing automated pipelines.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Complete Model Retraining: </a:t>
            </a:r>
            <a:r>
              <a:rPr sz="1300">
                <a:solidFill>
                  <a:srgbClr val="1E293B"/>
                </a:solidFill>
              </a:rPr>
              <a:t>Adjusting rubric criteria requires expensive re-prompting or LoRA fine-tuning rather than simple weight adjustments.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HybridASAG Decouples Quantitative Scoring from Qualitative Feedback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45920"/>
            <a:ext cx="10515600" cy="822960"/>
          </a:xfrm>
          <a:prstGeom prst="roundRect">
            <a:avLst/>
          </a:prstGeom>
          <a:solidFill>
            <a:srgbClr val="EBF3FC"/>
          </a:solidFill>
          <a:ln w="15240">
            <a:solidFill>
              <a:srgbClr val="1B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5DAA"/>
                </a:solidFill>
                <a:latin typeface="Segoe UI"/>
              </a:defRPr>
            </a:pPr>
            <a:r>
              <a:t>Core Thesis: Do NOT let the LLM invent scores. Use 5 specialized, lightweight models for deterministic measurement, and restrict the LLM strictly to translating scores into natural language feedback.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2651760"/>
            <a:ext cx="5120640" cy="347472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4213D"/>
                </a:solidFill>
              </a:defRPr>
            </a:pPr>
            <a:r>
              <a:t>Layer 1: Deterministic Feature Extraction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B5DAA"/>
                </a:solidFill>
              </a:rPr>
              <a:t>✔ SimCSE (RoBERTa-large): </a:t>
            </a:r>
            <a:r>
              <a:rPr sz="1200">
                <a:solidFill>
                  <a:srgbClr val="1E293B"/>
                </a:solidFill>
              </a:rPr>
              <a:t>Captures deep semantic equivalence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B5DAA"/>
                </a:solidFill>
              </a:rPr>
              <a:t>✔ KeyBERT (MiniLM-L6): </a:t>
            </a:r>
            <a:r>
              <a:rPr sz="1200">
                <a:solidFill>
                  <a:srgbClr val="1E293B"/>
                </a:solidFill>
              </a:rPr>
              <a:t>Extracts and checks core concept coverage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B5DAA"/>
                </a:solidFill>
              </a:rPr>
              <a:t>✔ RoBERTa Formality: </a:t>
            </a:r>
            <a:r>
              <a:rPr sz="1200">
                <a:solidFill>
                  <a:srgbClr val="1E293B"/>
                </a:solidFill>
              </a:rPr>
              <a:t>Measures academic vs. casual tone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B5DAA"/>
                </a:solidFill>
              </a:rPr>
              <a:t>✔ RoBERTa CoLA: </a:t>
            </a:r>
            <a:r>
              <a:rPr sz="1200">
                <a:solidFill>
                  <a:srgbClr val="1E293B"/>
                </a:solidFill>
              </a:rPr>
              <a:t>Evaluates grammatical acceptability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B5DAA"/>
                </a:solidFill>
              </a:rPr>
              <a:t>✔ DeBERTa-v3 NLI: </a:t>
            </a:r>
            <a:r>
              <a:rPr sz="1200">
                <a:solidFill>
                  <a:srgbClr val="1E293B"/>
                </a:solidFill>
              </a:rPr>
              <a:t>Detects factual entailment vs contradiction</a:t>
            </a:r>
          </a:p>
          <a:p>
            <a:pPr>
              <a:defRPr b="1" sz="1200">
                <a:solidFill>
                  <a:srgbClr val="228B22"/>
                </a:solidFill>
              </a:defRPr>
            </a:pPr>
            <a:r>
              <a:t>Output: 5 bounded sub-scores [0.0 - 1.0] (Memory: &lt; 3 GB)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651760"/>
            <a:ext cx="5120640" cy="347472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4213D"/>
                </a:solidFill>
              </a:defRPr>
            </a:pPr>
            <a:r>
              <a:t>Layer 2: Aggregation &amp; LLM Synthesis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39200"/>
                </a:solidFill>
              </a:rPr>
              <a:t>✔ Configurable Weighted Sum: </a:t>
            </a:r>
            <a:r>
              <a:rPr sz="1200">
                <a:solidFill>
                  <a:srgbClr val="1E293B"/>
                </a:solidFill>
              </a:rPr>
              <a:t>Final score = Σ (w_i × s_i) × 100. Fully transparent and auditable.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39200"/>
                </a:solidFill>
              </a:rPr>
              <a:t>✔ Adaptive Presets: </a:t>
            </a:r>
            <a:r>
              <a:rPr sz="1200">
                <a:solidFill>
                  <a:srgbClr val="1E293B"/>
                </a:solidFill>
              </a:rPr>
              <a:t>Instant recalibration across CS, Science, and Humanities without re-running models.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39200"/>
                </a:solidFill>
              </a:rPr>
              <a:t>✔ Constrained LLM (Qwen2.5-3B): </a:t>
            </a:r>
            <a:r>
              <a:rPr sz="1200">
                <a:solidFill>
                  <a:srgbClr val="1E293B"/>
                </a:solidFill>
              </a:rPr>
              <a:t>Fed ONLY the prompt, answer, and 5 scores. Instructed to synthesize targeted suggestions.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F39200"/>
                </a:solidFill>
              </a:rPr>
              <a:t>✔ Rule-Based Zero-Downtime Fallback: </a:t>
            </a:r>
            <a:r>
              <a:rPr sz="1200">
                <a:solidFill>
                  <a:srgbClr val="1E293B"/>
                </a:solidFill>
              </a:rPr>
              <a:t>If LLM times out or is bypassed (`skip_llm=True`), deterministic templates generate full feedback in 5ms.</a:t>
            </a:r>
          </a:p>
          <a:p>
            <a:pPr>
              <a:defRPr b="1" sz="1200">
                <a:solidFill>
                  <a:srgbClr val="228B22"/>
                </a:solidFill>
              </a:defRPr>
            </a:pPr>
            <a:r>
              <a:t>Output: Grade 0-100 + Radar Chart + Actionable Diagnostics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Five Lightweight NLP Modules Target Orthogonal Linguistic &amp; Semantic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41248" y="1828800"/>
          <a:ext cx="105156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097280"/>
                <a:gridCol w="3474720"/>
                <a:gridCol w="137160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Criterion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Underlying Model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Target Competence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Evaluation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5DAA"/>
                          </a:solidFill>
                          <a:latin typeface="Segoe UI"/>
                        </a:defRPr>
                      </a:pPr>
                      <a:r>
                        <a:t>Semantic Similarity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princeton-nlp/sup-simcse-roberta-large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~1.3 GB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Paraphrase &amp; conceptual synonym alignment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Cosine Sim [0, 1]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5DAA"/>
                          </a:solidFill>
                          <a:latin typeface="Segoe UI"/>
                        </a:defRPr>
                      </a:pPr>
                      <a:r>
                        <a:t>Keyword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all-MiniLM-L6-v2 (KeyBERT)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~80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Verification of required domain terms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Recall Ratio [0,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5DAA"/>
                          </a:solidFill>
                          <a:latin typeface="Segoe UI"/>
                        </a:defRPr>
                      </a:pPr>
                      <a:r>
                        <a:t>Formality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cointegrated/roberta-base-formality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~500 MB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Academic tone vs. colloquial slang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P(formal) [0, 1]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5DAA"/>
                          </a:solidFill>
                          <a:latin typeface="Segoe UI"/>
                        </a:defRPr>
                      </a:pPr>
                      <a:r>
                        <a:t>Grammar &amp; Fluency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textattack/roberta-base-CoLA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~500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Syntactic validity &amp; linguistic acceptability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P(acceptable) [0,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5DAA"/>
                          </a:solidFill>
                          <a:latin typeface="Segoe UI"/>
                        </a:defRPr>
                      </a:pPr>
                      <a:r>
                        <a:t>NLI / Logical Rigor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cross-encoder/nli-deberta-v3-base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~700 MB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Premise-hypothesis entailment vs contradiction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Softmax Entail [0, 1]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Flexible Aggregation Balances Pedagogical Presets with Machine-Learned Weights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B5DAA"/>
                </a:solidFill>
              </a:defRPr>
            </a:pPr>
            <a:r>
              <a:t>Pedagogical Weight Presets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Balanced (Default): </a:t>
            </a:r>
            <a:r>
              <a:rPr sz="1200">
                <a:solidFill>
                  <a:srgbClr val="1E293B"/>
                </a:solidFill>
              </a:rPr>
              <a:t>20% each across all 5 dimensions. Suitable for general coursework.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Content-Focused: </a:t>
            </a:r>
            <a:r>
              <a:rPr sz="1200">
                <a:solidFill>
                  <a:srgbClr val="1E293B"/>
                </a:solidFill>
              </a:rPr>
              <a:t>40% Semantic, 30% Coverage, 15% Logic, 10% Grammar, 5% Formality (Science/History).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Logic-Heavy: </a:t>
            </a:r>
            <a:r>
              <a:rPr sz="1200">
                <a:solidFill>
                  <a:srgbClr val="1E293B"/>
                </a:solidFill>
              </a:rPr>
              <a:t>35% Logic, 25% Semantic, 15% Coverage, 15% Grammar, 10% Formality (Math/CS proofs).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Academic Writing: </a:t>
            </a:r>
            <a:r>
              <a:rPr sz="1200">
                <a:solidFill>
                  <a:srgbClr val="1E293B"/>
                </a:solidFill>
              </a:rPr>
              <a:t>25% Formality, 25% Grammar, 20% Semantic, 15% Coverage, 15% Logic (Language Arts).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Instant Recalibration: </a:t>
            </a:r>
            <a:r>
              <a:rPr sz="1200">
                <a:solidFill>
                  <a:srgbClr val="1E293B"/>
                </a:solidFill>
              </a:rPr>
              <a:t>Teachers can recalculate entire class cohorts in &lt;10ms via REST API (`/grade/recalculate`) without re-running models!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B5DAA"/>
                </a:solidFill>
              </a:defRPr>
            </a:pPr>
            <a:r>
              <a:t>ML Weight Optimization &amp; Calibration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Learned Empirical Weights: </a:t>
            </a:r>
            <a:r>
              <a:rPr sz="1200">
                <a:solidFill>
                  <a:srgbClr val="1E293B"/>
                </a:solidFill>
              </a:rPr>
              <a:t>Linear regression on annotated samples discovers optimal feature contributions (Logic 40%, Coverage 30%, Semantic 20%).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Zero-Weight Formality: </a:t>
            </a:r>
            <a:r>
              <a:rPr sz="1200">
                <a:solidFill>
                  <a:srgbClr val="1E293B"/>
                </a:solidFill>
              </a:rPr>
              <a:t>In STEM/CS exams, optimizer sets Formality to 0%—confirming empirical consensus that casual tone should not penalize code comprehension.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Adaptive Threshold Calibration: </a:t>
            </a:r>
            <a:r>
              <a:rPr sz="1200">
                <a:solidFill>
                  <a:srgbClr val="1E293B"/>
                </a:solidFill>
              </a:rPr>
              <a:t>Optimizing class thresholds (Correct: 0.65-0.70 / Partial: 0.38-0.40) dramatically boosts classification metrics: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28B22"/>
                </a:solidFill>
              </a:rPr>
              <a:t>  → CS Domain Dataset: </a:t>
            </a:r>
            <a:r>
              <a:rPr sz="1200">
                <a:solidFill>
                  <a:srgbClr val="1E293B"/>
                </a:solidFill>
              </a:rPr>
              <a:t>Macro F1 increases by +10.3% (0.783 → 0.886); QWK increases by +8.0% (0.830 → 0.909).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28B22"/>
                </a:solidFill>
              </a:rPr>
              <a:t>  → STEM Science Dataset: </a:t>
            </a:r>
            <a:r>
              <a:rPr sz="1200">
                <a:solidFill>
                  <a:srgbClr val="1E293B"/>
                </a:solidFill>
              </a:rPr>
              <a:t>Macro F1 increases by +7.6% (0.760 → 0.836); QWK increases by +6.8% (0.773 → 0.842).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Rigorous Benchmark Evaluation Across Multi-Domain Datasets and Agreement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B5DAA"/>
                </a:solidFill>
              </a:defRPr>
            </a:pPr>
            <a:r>
              <a:t>Multi-Domain Evaluation Corpus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SemEval-2013 Task 7: </a:t>
            </a:r>
            <a:r>
              <a:rPr sz="1200">
                <a:solidFill>
                  <a:srgbClr val="1E293B"/>
                </a:solidFill>
              </a:rPr>
              <a:t>Golden international benchmark for ASAG. Covers Beetle (electrical fundamentals, 4,000+ answers) and Scientsbank (general science, 10,000+ answers).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Computer Science Benchmark: </a:t>
            </a:r>
            <a:r>
              <a:rPr sz="1200">
                <a:solidFill>
                  <a:srgbClr val="1E293B"/>
                </a:solidFill>
              </a:rPr>
              <a:t>150 verified student submissions on Data Structures, Algorithms, and Object-Oriented Programming (Mohler et al. protocol).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STEM Science Dataset: </a:t>
            </a:r>
            <a:r>
              <a:rPr sz="1200">
                <a:solidFill>
                  <a:srgbClr val="1E293B"/>
                </a:solidFill>
              </a:rPr>
              <a:t>200 curated student responses in Physics, Chemistry, and Environmental Science.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Label Distribution: </a:t>
            </a:r>
            <a:r>
              <a:rPr sz="1200">
                <a:solidFill>
                  <a:srgbClr val="1E293B"/>
                </a:solidFill>
              </a:rPr>
              <a:t>Balanced 3-way evaluation: Correct (100%), Partially Correct (50%), and Contradictory/Incorrect (0%).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defRPr b="1" sz="1700">
                <a:solidFill>
                  <a:srgbClr val="1B5DAA"/>
                </a:solidFill>
              </a:defRPr>
            </a:pPr>
            <a:r>
              <a:t>Statistical Evaluation Metrics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Quadratic Weighted Kappa (QWK): </a:t>
            </a:r>
            <a:r>
              <a:rPr sz="1200">
                <a:solidFill>
                  <a:srgbClr val="1E293B"/>
                </a:solidFill>
              </a:rPr>
              <a:t>Primary conference metric. Penalizes severe misclassifications (Correct vs Contradictory) quadratically heavier than minor shifts (Correct vs Partial).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Pearson Correlation (r): </a:t>
            </a:r>
            <a:r>
              <a:rPr sz="1200">
                <a:solidFill>
                  <a:srgbClr val="1E293B"/>
                </a:solidFill>
              </a:rPr>
              <a:t>Measures linear agreement between predicted continuous scores and human instructor scores.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Macro &amp; Weighted F1-Score: </a:t>
            </a:r>
            <a:r>
              <a:rPr sz="1200">
                <a:solidFill>
                  <a:srgbClr val="1E293B"/>
                </a:solidFill>
              </a:rPr>
              <a:t>Ensures reliable performance across minority class labels without majority-class skew.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Validation Protocol: </a:t>
            </a:r>
            <a:r>
              <a:rPr sz="1200">
                <a:solidFill>
                  <a:srgbClr val="1E293B"/>
                </a:solidFill>
              </a:rPr>
              <a:t>5-fold cross-validation with paired non-parametric Wilcoxon signed-rank tests and Bonferroni corrections.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HybridASAG Outperforms Baselines with Superior Inter-Rater Agreement and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i="1">
                <a:solidFill>
                  <a:srgbClr val="F39200"/>
                </a:solidFill>
                <a:latin typeface="Segoe UI"/>
              </a:defRPr>
            </a:pPr>
            <a:r>
              <a:t>[NOTE: Benchmark results from pilot study; update for camera-ready]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8288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  <a:gridCol w="1645920"/>
                <a:gridCol w="1645920"/>
                <a:gridCol w="1645920"/>
              </a:tblGrid>
              <a:tr h="470262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Weighted F1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QWK (Kappa)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Pearson (r)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TF-IDF Baseline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0.523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0.489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0.512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0.412 ± 0.04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0.534 ± 0.04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Keywords (KeyBERT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0.467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0.423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0.451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0.356 ± 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0.478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SBERT (Sentence-BERT)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0.612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0.587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0.601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0.534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0.623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LLM-ZeroShot (Prompted)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0.645 ± 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0.621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0.638 ± 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0.567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0.654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Hybrid-RuleOnly (No LLM)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0.723 ± 0.02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0.698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0.715 ± 0.02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0.645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0.734 ± 0.03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4213D"/>
                          </a:solidFill>
                          <a:latin typeface="Segoe UI"/>
                        </a:defRPr>
                      </a:pPr>
                      <a:r>
                        <a:t>Hybrid-ASAG (Proposed Full)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0.756 ± 0.02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0.734 ± 0.02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0.748 ± 0.02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0.689 ± 0.03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0.768 ± 0.02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" y="5303520"/>
            <a:ext cx="10515600" cy="822960"/>
          </a:xfrm>
          <a:prstGeom prst="roundRect">
            <a:avLst/>
          </a:prstGeom>
          <a:solidFill>
            <a:srgbClr val="F0F8FF"/>
          </a:solidFill>
          <a:ln w="15240">
            <a:solidFill>
              <a:srgbClr val="1B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B5DAA"/>
                </a:solidFill>
                <a:latin typeface="Segoe UI"/>
              </a:defRPr>
            </a:pPr>
            <a:r>
              <a:t>Key Findings &amp; Statistical Tests:</a:t>
            </a:r>
          </a:p>
          <a:p>
            <a:pPr>
              <a:defRPr sz="1200">
                <a:solidFill>
                  <a:srgbClr val="1E293B"/>
                </a:solidFill>
                <a:latin typeface="Segoe UI"/>
              </a:defRPr>
            </a:pPr>
            <a:r>
              <a:t>• Hybrid-ASAG outperforms Prompted Zero-Shot LLM by +11.1% Accuracy and +12.2% QWK (p = 0.002, Very Significant **).</a:t>
            </a:r>
          </a:p>
          <a:p>
            <a:pPr>
              <a:defRPr sz="1200">
                <a:solidFill>
                  <a:srgbClr val="1E293B"/>
                </a:solidFill>
                <a:latin typeface="Segoe UI"/>
              </a:defRPr>
            </a:pPr>
            <a:r>
              <a:t>• Even without LLM generation ('Hybrid-RuleOnly'), the 5 lightweight extractors beat SBERT and Zero-Shot LLM (QWK 0.645 vs 0.567).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Ablation Confirms Semantic Similarity and NLI Logic as the Primary Drivers of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i="1">
                <a:solidFill>
                  <a:srgbClr val="F39200"/>
                </a:solidFill>
                <a:latin typeface="Segoe UI"/>
              </a:defRPr>
            </a:pPr>
            <a:r>
              <a:t>[NOTE: Benchmark results from pilot study; update for camera-ready]</a:t>
            </a:r>
          </a:p>
        </p:txBody>
      </p:sp>
      <p:pic>
        <p:nvPicPr>
          <p:cNvPr id="4" name="Picture 3" descr="fig11_ablation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583680" cy="300553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737360"/>
            <a:ext cx="3749039" cy="429768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4213D"/>
                </a:solidFill>
                <a:latin typeface="Segoe UI"/>
              </a:defRPr>
            </a:pPr>
            <a:r>
              <a:t>Component Impact Analysis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39200"/>
                </a:solidFill>
              </a:rPr>
              <a:t>• NLI Logic is Crucial for QWK: </a:t>
            </a:r>
            <a:r>
              <a:rPr sz="1200">
                <a:solidFill>
                  <a:srgbClr val="1E293B"/>
                </a:solidFill>
              </a:rPr>
              <a:t>Omitting DeBERTa causes the most catastrophic agreement drop (Δ QWK = -0.103, p &lt; 0.001 ***). Logic prevents misclassifying contradiction answers as correct.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5DAA"/>
                </a:solidFill>
              </a:rPr>
              <a:t>• Semantic Embeddings Anchor F1: </a:t>
            </a:r>
            <a:r>
              <a:rPr sz="1200">
                <a:solidFill>
                  <a:srgbClr val="1E293B"/>
                </a:solidFill>
              </a:rPr>
              <a:t>Removing SimCSE produces the largest Macro F1 drop (Δ F1 = -0.053, p &lt; 0.01 **), confirming paraphrastic semantic capture is vital.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5DAA"/>
                </a:solidFill>
              </a:rPr>
              <a:t>• Surface Form Does Not Penalize Knowledge: </a:t>
            </a:r>
            <a:r>
              <a:rPr sz="1200">
                <a:solidFill>
                  <a:srgbClr val="1E293B"/>
                </a:solidFill>
              </a:rPr>
              <a:t>Ablating Formality (Δ F1 = -0.008) and Grammar (Δ F1 = -0.015) shows negligible impact. This prevents bias against non-native ESL writers.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Qwen2.5-3B Delivers High JSON Schema Compliance with Minimal Compute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i="1">
                <a:solidFill>
                  <a:srgbClr val="F39200"/>
                </a:solidFill>
                <a:latin typeface="Segoe UI"/>
              </a:defRPr>
            </a:pPr>
            <a:r>
              <a:t>[NOTE: Benchmark results from pilot study; update for camera-ready]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8288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554480"/>
                <a:gridCol w="1554480"/>
                <a:gridCol w="1554480"/>
                <a:gridCol w="1645920"/>
                <a:gridCol w="164592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Candidate Model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Parameters / Disk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JSON Compliance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Parse Error Rate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Hallucination Rate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Peak RAM (CPU)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4213D"/>
                          </a:solidFill>
                          <a:latin typeface="Segoe UI"/>
                        </a:defRPr>
                      </a:pPr>
                      <a:r>
                        <a:t>Qwen2.5-3B-Instruct (Selected)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213D"/>
                          </a:solidFill>
                          <a:latin typeface="Segoe UI"/>
                        </a:defRPr>
                      </a:pPr>
                      <a:r>
                        <a:t>3.1B (~6.5 GB)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28B22"/>
                          </a:solidFill>
                          <a:latin typeface="Segoe UI"/>
                        </a:defRPr>
                      </a:pPr>
                      <a:r>
                        <a:t>8.1%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213D"/>
                          </a:solidFill>
                          <a:latin typeface="Segoe UI"/>
                        </a:defRPr>
                      </a:pPr>
                      <a:r>
                        <a:t>10.7%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4213D"/>
                          </a:solidFill>
                          <a:latin typeface="Segoe UI"/>
                        </a:defRPr>
                      </a:pPr>
                      <a:r>
                        <a:t>6.7 GB</a:t>
                      </a:r>
                    </a:p>
                  </a:txBody>
                  <a:tcPr>
                    <a:solidFill>
                      <a:srgbClr val="E6F5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Phi-3-Mini-4K-Instruct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3.8B (~7.2 GB)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7.2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Qwen2.5-1.5B-Instruct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1.5B (~3.1 GB)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68.9%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29.5%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23.5%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3.1 GB</a:t>
                      </a:r>
                    </a:p>
                  </a:txBody>
                  <a:tcPr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" y="4480560"/>
            <a:ext cx="10515600" cy="164592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B5DAA"/>
                </a:solidFill>
              </a:defRPr>
            </a:pPr>
            <a:r>
              <a:t>Deployment &amp; Engineering Takeaways: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✔ Superior Schema Adherence: Qwen2.5-3B achieved 90.5% JSON compliance, compared to only 78.0% for Phi-3-Mini, significantly reducing pipeline crashes.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✔ 4-Bit Quantization Ready: When deployed with 4-bit NF4 quantization, Qwen2.5-3B fits within 2.5 GB of VRAM, running on commodity edge workstations.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</a:defRPr>
            </a:pPr>
            <a:r>
              <a:t>✔ Deterministic Fallback Safety Net: In high-concurrency situations, `skip_llm=True` bypasses generation and produces templated feedback in 5ms with zero VRAM.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Interactive Dashboard Translates Numerical Sub-Scores into Actionable Diagnostics</a:t>
            </a:r>
          </a:p>
        </p:txBody>
      </p:sp>
      <p:pic>
        <p:nvPicPr>
          <p:cNvPr id="3" name="Picture 2" descr="grading_ui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675120" cy="339234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80960" y="1737360"/>
            <a:ext cx="3657600" cy="429768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14213D"/>
                </a:solidFill>
              </a:defRPr>
            </a:pPr>
            <a:r>
              <a:t>Explainability in Practice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5DAA"/>
                </a:solidFill>
              </a:rPr>
              <a:t>• Transparent Composite Score: </a:t>
            </a:r>
            <a:r>
              <a:rPr sz="1200">
                <a:solidFill>
                  <a:srgbClr val="1E293B"/>
                </a:solidFill>
              </a:rPr>
              <a:t>Overall 67/100 clearly displayed alongside classification badge ('Partially Correct').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5DAA"/>
                </a:solidFill>
              </a:rPr>
              <a:t>• Fine-Grained Criterion Breakdown: </a:t>
            </a:r>
            <a:r>
              <a:rPr sz="1200">
                <a:solidFill>
                  <a:srgbClr val="1E293B"/>
                </a:solidFill>
              </a:rPr>
              <a:t>Visual bars directly show where points were lost: Formality (100%) and Grammar (95%) were high, but Keyword Coverage was only 20%.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5DAA"/>
                </a:solidFill>
              </a:rPr>
              <a:t>• Missing Vocabulary Extraction: </a:t>
            </a:r>
            <a:r>
              <a:rPr sz="1200">
                <a:solidFill>
                  <a:srgbClr val="1E293B"/>
                </a:solidFill>
              </a:rPr>
              <a:t>Explicitly lists key terms missing from reference answer: 'photosynthesis', 'converts', 'carbon dioxide'.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5DAA"/>
                </a:solidFill>
              </a:rPr>
              <a:t>• Actionable Pedagogical Advice: </a:t>
            </a:r>
            <a:r>
              <a:rPr sz="1200">
                <a:solidFill>
                  <a:srgbClr val="1E293B"/>
                </a:solidFill>
              </a:rPr>
              <a:t>Qwen2.5-3B provides a targeted tip: 'Try to explicitly connect how solar energy converts carbon dioxide into glucose'.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Summary: A Trustworthy, Interpretable, and Resource-Efficient Paradigm for ASAG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291840" cy="411480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1B5DAA"/>
                </a:solidFill>
              </a:defRPr>
            </a:pPr>
            <a:r>
              <a:t>1. Decoupled Architecture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Proposed a novel 5+1 hybrid paradigm that decouples numerical grading from textual feedback.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Eliminates LLM hallucination in grade calculation while retaining teacher-like feedback generation.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Supports domain-specific rubric weighting without model fine-tuning.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53128" y="1828800"/>
            <a:ext cx="3291840" cy="411480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1B5DAA"/>
                </a:solidFill>
              </a:defRPr>
            </a:pPr>
            <a:r>
              <a:t>2. Empirical Superiority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Achieves 0.689 QWK and 0.768 Pearson r, outperforming Prompted Zero-Shot LLMs and SBERT.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Statistically verified through Wilcoxon signed-rank and Bonferroni tests.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Ablation identifies NLI Logic as the single most critical factor in preventing erroneous grading.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65008" y="1828800"/>
            <a:ext cx="3291840" cy="4114800"/>
          </a:xfrm>
          <a:prstGeom prst="roundRect">
            <a:avLst/>
          </a:prstGeom>
          <a:solidFill>
            <a:srgbClr val="F3F6FB"/>
          </a:solidFill>
          <a:ln w="15240">
            <a:solidFill>
              <a:srgbClr val="CBD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1B5DAA"/>
                </a:solidFill>
              </a:defRPr>
            </a:pPr>
            <a:r>
              <a:t>3. Practical Deployment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Inference requires &lt; 3 GB RAM for scoring, running on standard CPU hardware.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4-bit quantized Qwen2.5-3B enables low-latency feedback with 90.5% JSON reliability.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✔ Fully implemented open-source FastAPI and React dashboard ready for university adoption.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defRPr sz="2400" b="1">
                <a:solidFill>
                  <a:srgbClr val="14213D"/>
                </a:solidFill>
                <a:latin typeface="Segoe UI"/>
              </a:defRPr>
            </a:pPr>
            <a:r>
              <a:t>Advancing Toward Cross-Lingual Evaluation and Adaptive Rubric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B5DAA"/>
                </a:solidFill>
              </a:defRPr>
            </a:pPr>
            <a:r>
              <a:t>Future Research Directions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E293B"/>
                </a:solidFill>
              </a:rPr>
              <a:t>Cross-Lingual Generalization: </a:t>
            </a:r>
            <a:r>
              <a:rPr sz="1300">
                <a:solidFill>
                  <a:srgbClr val="1E293B"/>
                </a:solidFill>
              </a:rPr>
              <a:t>Extending the 5-model pipeline to low-resource languages (e.g., Vietnamese, Malay) via multilingual encoders (XLM-RoBERTa, mDeBERTa).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E293B"/>
                </a:solidFill>
              </a:rPr>
              <a:t>Dynamic Rubric Synthesis: </a:t>
            </a:r>
            <a:r>
              <a:rPr sz="1300">
                <a:solidFill>
                  <a:srgbClr val="1E293B"/>
                </a:solidFill>
              </a:rPr>
              <a:t>Automated few-shot generation of question-specific rubric weights based on Bloom's taxonomy level.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E293B"/>
                </a:solidFill>
              </a:rPr>
              <a:t>Multimodal STEM Extension: </a:t>
            </a:r>
            <a:r>
              <a:rPr sz="1300">
                <a:solidFill>
                  <a:srgbClr val="1E293B"/>
                </a:solidFill>
              </a:rPr>
              <a:t>Integrating OCR and vision-language encoders to evaluate scientific diagrams and mathematical LaTeX derivations.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F39200"/>
                </a:solidFill>
              </a:defRPr>
            </a:pPr>
            <a:r>
              <a:t>Open Science &amp; Discussion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Code &amp; Data Repository: </a:t>
            </a:r>
            <a:r>
              <a:rPr sz="1300">
                <a:solidFill>
                  <a:srgbClr val="1B5DAA"/>
                </a:solidFill>
              </a:rPr>
              <a:t>github.com/dothanhhxx/AutoGradeSystem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Pretrained Weights: </a:t>
            </a:r>
            <a:r>
              <a:rPr sz="1300">
                <a:solidFill>
                  <a:srgbClr val="1E293B"/>
                </a:solidFill>
              </a:rPr>
              <a:t>Hugging Face Model Hub (Open Weights)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Corresponding Author: </a:t>
            </a:r>
            <a:r>
              <a:rPr sz="1300">
                <a:solidFill>
                  <a:srgbClr val="1E293B"/>
                </a:solidFill>
              </a:rPr>
              <a:t>Do Thanh Hai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Conference Session: </a:t>
            </a:r>
            <a:r>
              <a:rPr sz="1300">
                <a:solidFill>
                  <a:srgbClr val="1E293B"/>
                </a:solidFill>
              </a:rPr>
              <a:t>IEEE ICOCO 2026 — AI in Education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5029200"/>
            <a:ext cx="5120640" cy="1097280"/>
          </a:xfrm>
          <a:prstGeom prst="roundRect">
            <a:avLst/>
          </a:prstGeom>
          <a:solidFill>
            <a:srgbClr val="F0F5FC"/>
          </a:solidFill>
          <a:ln w="15240">
            <a:solidFill>
              <a:srgbClr val="1B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4213D"/>
                </a:solidFill>
              </a:defRPr>
            </a:pPr>
            <a:r>
              <a:t>Thank you for your attention!</a:t>
            </a:r>
            <a:br/>
            <a:r>
              <a:t>We welcome questions from the committee &amp; audience.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COCO 2026">
      <a:dk1>
        <a:srgbClr val="14213D"/>
      </a:dk1>
      <a:lt1>
        <a:sysClr val="window" lastClr="FFFFFF"/>
      </a:lt1>
      <a:dk2>
        <a:srgbClr val="0E2841"/>
      </a:dk2>
      <a:lt2>
        <a:srgbClr val="F2F6FB"/>
      </a:lt2>
      <a:accent1>
        <a:srgbClr val="1B5DAA"/>
      </a:accent1>
      <a:accent2>
        <a:srgbClr val="F39200"/>
      </a:accent2>
      <a:accent3>
        <a:srgbClr val="1EA0DC"/>
      </a:accent3>
      <a:accent4>
        <a:srgbClr val="E8453C"/>
      </a:accent4>
      <a:accent5>
        <a:srgbClr val="6B7A90"/>
      </a:accent5>
      <a:accent6>
        <a:srgbClr val="FFC266"/>
      </a:accent6>
      <a:hlink>
        <a:srgbClr val="1B5DAA"/>
      </a:hlink>
      <a:folHlink>
        <a:srgbClr val="2A4A66"/>
      </a:folHlink>
    </a:clrScheme>
    <a:fontScheme name="Custom 13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-icoco-2026.potx" id="{42593825-DDD8-4065-AC76-17F1F2215341}" vid="{CEB74441-719A-4A02-814A-1777FE82C7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22</Words>
  <Application>Microsoft Office PowerPoint</Application>
  <PresentationFormat>Widescreen</PresentationFormat>
  <Paragraphs>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 VEI SIANG</dc:creator>
  <cp:lastModifiedBy>CHAN VEI SIANG</cp:lastModifiedBy>
  <cp:revision>23</cp:revision>
  <dcterms:created xsi:type="dcterms:W3CDTF">2026-10-04T11:14:08Z</dcterms:created>
  <dcterms:modified xsi:type="dcterms:W3CDTF">2026-10-04T11:50:17Z</dcterms:modified>
</cp:coreProperties>
</file>